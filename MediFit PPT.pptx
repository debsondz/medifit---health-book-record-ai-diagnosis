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2192000" cy="6858000"/>
  <p:notesSz cx="6858000" cy="9144000"/>
  <p:embeddedFontLst>
    <p:embeddedFont>
      <p:font typeface="Public Sans Bold" charset="1" panose="00000000000000000000"/>
      <p:regular r:id="rId14"/>
    </p:embeddedFont>
    <p:embeddedFont>
      <p:font typeface="Playfair Display 1" charset="1" panose="00000500000000000000"/>
      <p:regular r:id="rId15"/>
    </p:embeddedFont>
    <p:embeddedFont>
      <p:font typeface="Public Sans" charset="1" panose="00000000000000000000"/>
      <p:regular r:id="rId16"/>
    </p:embeddedFont>
    <p:embeddedFont>
      <p:font typeface="Playfair Display 1 Bold" charset="1" panose="00000800000000000000"/>
      <p:regular r:id="rId17"/>
    </p:embeddedFont>
    <p:embeddedFont>
      <p:font typeface="Playfair Display 2 Bold" charset="1" panose="00000000000000000000"/>
      <p:regular r:id="rId18"/>
    </p:embeddedFont>
    <p:embeddedFont>
      <p:font typeface="Playfair Display 2" charset="1" panose="00000000000000000000"/>
      <p:regular r:id="rId19"/>
    </p:embeddedFont>
    <p:embeddedFont>
      <p:font typeface="DM Sans" charset="1" panose="00000000000000000000"/>
      <p:regular r:id="rId20"/>
    </p:embeddedFont>
    <p:embeddedFont>
      <p:font typeface="Playfair Display 2 Medium"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685804" y="3009843"/>
            <a:ext cx="10820396" cy="25672"/>
          </a:xfrm>
          <a:prstGeom prst="line">
            <a:avLst/>
          </a:prstGeom>
          <a:ln cap="flat" w="9525">
            <a:solidFill>
              <a:srgbClr val="2B2C30"/>
            </a:solidFill>
            <a:prstDash val="solid"/>
            <a:headEnd type="none" len="sm" w="sm"/>
            <a:tailEnd type="none" len="sm" w="sm"/>
          </a:ln>
        </p:spPr>
      </p:sp>
      <p:sp>
        <p:nvSpPr>
          <p:cNvPr name="TextBox 3" id="3"/>
          <p:cNvSpPr txBox="true"/>
          <p:nvPr/>
        </p:nvSpPr>
        <p:spPr>
          <a:xfrm rot="0">
            <a:off x="685804" y="3154193"/>
            <a:ext cx="8650320" cy="432401"/>
          </a:xfrm>
          <a:prstGeom prst="rect">
            <a:avLst/>
          </a:prstGeom>
        </p:spPr>
        <p:txBody>
          <a:bodyPr anchor="t" rtlCol="false" tIns="0" lIns="0" bIns="0" rIns="0">
            <a:spAutoFit/>
          </a:bodyPr>
          <a:lstStyle/>
          <a:p>
            <a:pPr algn="l">
              <a:lnSpc>
                <a:spcPts val="3466"/>
              </a:lnSpc>
              <a:spcBef>
                <a:spcPct val="0"/>
              </a:spcBef>
            </a:pPr>
            <a:r>
              <a:rPr lang="en-US" sz="2476" b="true">
                <a:solidFill>
                  <a:srgbClr val="2B2C30"/>
                </a:solidFill>
                <a:latin typeface="Public Sans Bold"/>
                <a:ea typeface="Public Sans Bold"/>
                <a:cs typeface="Public Sans Bold"/>
                <a:sym typeface="Public Sans Bold"/>
              </a:rPr>
              <a:t>Tailored health solutions for every individual.</a:t>
            </a:r>
          </a:p>
        </p:txBody>
      </p:sp>
      <p:sp>
        <p:nvSpPr>
          <p:cNvPr name="TextBox 4" id="4"/>
          <p:cNvSpPr txBox="true"/>
          <p:nvPr/>
        </p:nvSpPr>
        <p:spPr>
          <a:xfrm rot="0">
            <a:off x="685800" y="1447417"/>
            <a:ext cx="10938888" cy="1386214"/>
          </a:xfrm>
          <a:prstGeom prst="rect">
            <a:avLst/>
          </a:prstGeom>
        </p:spPr>
        <p:txBody>
          <a:bodyPr anchor="t" rtlCol="false" tIns="0" lIns="0" bIns="0" rIns="0">
            <a:spAutoFit/>
          </a:bodyPr>
          <a:lstStyle/>
          <a:p>
            <a:pPr algn="l">
              <a:lnSpc>
                <a:spcPts val="10167"/>
              </a:lnSpc>
            </a:pPr>
            <a:r>
              <a:rPr lang="en-US" sz="11172" spc="55">
                <a:solidFill>
                  <a:srgbClr val="2B2C30"/>
                </a:solidFill>
                <a:latin typeface="Playfair Display 1"/>
                <a:ea typeface="Playfair Display 1"/>
                <a:cs typeface="Playfair Display 1"/>
                <a:sym typeface="Playfair Display 1"/>
              </a:rPr>
              <a:t>Medi-Fit</a:t>
            </a:r>
          </a:p>
        </p:txBody>
      </p:sp>
      <p:sp>
        <p:nvSpPr>
          <p:cNvPr name="Freeform 5" id="5"/>
          <p:cNvSpPr/>
          <p:nvPr/>
        </p:nvSpPr>
        <p:spPr>
          <a:xfrm flipH="false" flipV="false" rot="0">
            <a:off x="8965543" y="797165"/>
            <a:ext cx="4288747" cy="5578858"/>
          </a:xfrm>
          <a:custGeom>
            <a:avLst/>
            <a:gdLst/>
            <a:ahLst/>
            <a:cxnLst/>
            <a:rect r="r" b="b" t="t" l="l"/>
            <a:pathLst>
              <a:path h="5578858" w="4288747">
                <a:moveTo>
                  <a:pt x="0" y="0"/>
                </a:moveTo>
                <a:lnTo>
                  <a:pt x="4288747" y="0"/>
                </a:lnTo>
                <a:lnTo>
                  <a:pt x="4288747" y="5578858"/>
                </a:lnTo>
                <a:lnTo>
                  <a:pt x="0" y="5578858"/>
                </a:lnTo>
                <a:lnTo>
                  <a:pt x="0" y="0"/>
                </a:lnTo>
                <a:close/>
              </a:path>
            </a:pathLst>
          </a:custGeom>
          <a:blipFill>
            <a:blip r:embed="rId2"/>
            <a:stretch>
              <a:fillRect l="0" t="0" r="0" b="0"/>
            </a:stretch>
          </a:blipFill>
        </p:spPr>
      </p:sp>
      <p:sp>
        <p:nvSpPr>
          <p:cNvPr name="TextBox 6" id="6"/>
          <p:cNvSpPr txBox="true"/>
          <p:nvPr/>
        </p:nvSpPr>
        <p:spPr>
          <a:xfrm rot="0">
            <a:off x="685804" y="4009690"/>
            <a:ext cx="5950865" cy="2267300"/>
          </a:xfrm>
          <a:prstGeom prst="rect">
            <a:avLst/>
          </a:prstGeom>
        </p:spPr>
        <p:txBody>
          <a:bodyPr anchor="t" rtlCol="false" tIns="0" lIns="0" bIns="0" rIns="0">
            <a:spAutoFit/>
          </a:bodyPr>
          <a:lstStyle/>
          <a:p>
            <a:pPr algn="just">
              <a:lnSpc>
                <a:spcPts val="2611"/>
              </a:lnSpc>
            </a:pPr>
            <a:r>
              <a:rPr lang="en-US" sz="1740">
                <a:solidFill>
                  <a:srgbClr val="2B2C30"/>
                </a:solidFill>
                <a:latin typeface="Public Sans"/>
                <a:ea typeface="Public Sans"/>
                <a:cs typeface="Public Sans"/>
                <a:sym typeface="Public Sans"/>
              </a:rPr>
              <a:t>Name / KTJ-ID / Contact Number : </a:t>
            </a:r>
          </a:p>
          <a:p>
            <a:pPr algn="just">
              <a:lnSpc>
                <a:spcPts val="2611"/>
              </a:lnSpc>
            </a:pPr>
            <a:r>
              <a:rPr lang="en-US" sz="1740">
                <a:solidFill>
                  <a:srgbClr val="2B2C30"/>
                </a:solidFill>
                <a:latin typeface="Public Sans"/>
                <a:ea typeface="Public Sans"/>
                <a:cs typeface="Public Sans"/>
                <a:sym typeface="Public Sans"/>
              </a:rPr>
              <a:t>Debrup Ghosh : 25KTJDEB597253 - 98276 61515</a:t>
            </a:r>
          </a:p>
          <a:p>
            <a:pPr algn="just">
              <a:lnSpc>
                <a:spcPts val="2611"/>
              </a:lnSpc>
            </a:pPr>
            <a:r>
              <a:rPr lang="en-US" sz="1740">
                <a:solidFill>
                  <a:srgbClr val="2B2C30"/>
                </a:solidFill>
                <a:latin typeface="Public Sans"/>
                <a:ea typeface="Public Sans"/>
                <a:cs typeface="Public Sans"/>
                <a:sym typeface="Public Sans"/>
              </a:rPr>
              <a:t>Abhishek Mishra : 25KTJABH123834 - 81447 51656</a:t>
            </a:r>
          </a:p>
          <a:p>
            <a:pPr algn="just">
              <a:lnSpc>
                <a:spcPts val="2611"/>
              </a:lnSpc>
            </a:pPr>
            <a:r>
              <a:rPr lang="en-US" sz="1740">
                <a:solidFill>
                  <a:srgbClr val="2B2C30"/>
                </a:solidFill>
                <a:latin typeface="Public Sans"/>
                <a:ea typeface="Public Sans"/>
                <a:cs typeface="Public Sans"/>
                <a:sym typeface="Public Sans"/>
              </a:rPr>
              <a:t>Aditi Lal : 25KTJADI871736 -  91024 03292</a:t>
            </a:r>
          </a:p>
          <a:p>
            <a:pPr algn="just">
              <a:lnSpc>
                <a:spcPts val="2611"/>
              </a:lnSpc>
            </a:pPr>
            <a:r>
              <a:rPr lang="en-US" sz="1740">
                <a:solidFill>
                  <a:srgbClr val="2B2C30"/>
                </a:solidFill>
                <a:latin typeface="Public Sans"/>
                <a:ea typeface="Public Sans"/>
                <a:cs typeface="Public Sans"/>
                <a:sym typeface="Public Sans"/>
              </a:rPr>
              <a:t>Asmet Sahoo : 25KTJASM460774 - 8917544609</a:t>
            </a:r>
          </a:p>
          <a:p>
            <a:pPr algn="just">
              <a:lnSpc>
                <a:spcPts val="2611"/>
              </a:lnSpc>
            </a:pPr>
          </a:p>
          <a:p>
            <a:pPr algn="just">
              <a:lnSpc>
                <a:spcPts val="2611"/>
              </a:lnSpc>
            </a:pPr>
            <a:r>
              <a:rPr lang="en-US" sz="1740">
                <a:solidFill>
                  <a:srgbClr val="2B2C30"/>
                </a:solidFill>
                <a:latin typeface="Public Sans"/>
                <a:ea typeface="Public Sans"/>
                <a:cs typeface="Public Sans"/>
                <a:sym typeface="Public Sans"/>
              </a:rPr>
              <a:t>College : Kalinga Institute of Industrial Technology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77605" y="1463888"/>
            <a:ext cx="6718201" cy="4972581"/>
          </a:xfrm>
          <a:prstGeom prst="rect">
            <a:avLst/>
          </a:prstGeom>
        </p:spPr>
        <p:txBody>
          <a:bodyPr anchor="t" rtlCol="false" tIns="0" lIns="0" bIns="0" rIns="0">
            <a:spAutoFit/>
          </a:bodyPr>
          <a:lstStyle/>
          <a:p>
            <a:pPr algn="just">
              <a:lnSpc>
                <a:spcPts val="2175"/>
              </a:lnSpc>
            </a:pPr>
            <a:r>
              <a:rPr lang="en-US" sz="1673" spc="8">
                <a:solidFill>
                  <a:srgbClr val="2B2C30"/>
                </a:solidFill>
                <a:latin typeface="Playfair Display 1"/>
                <a:ea typeface="Playfair Display 1"/>
                <a:cs typeface="Playfair Display 1"/>
                <a:sym typeface="Playfair Display 1"/>
              </a:rPr>
              <a:t>In the healthcare industry, issues like accessibility, organization, and affordability create significant barriers for many people, particularly those in rural or low-income areas, where maintaining good health often feels unattainable due to limited resources.</a:t>
            </a:r>
          </a:p>
          <a:p>
            <a:pPr algn="just">
              <a:lnSpc>
                <a:spcPts val="2175"/>
              </a:lnSpc>
            </a:pPr>
          </a:p>
          <a:p>
            <a:pPr algn="just">
              <a:lnSpc>
                <a:spcPts val="2175"/>
              </a:lnSpc>
            </a:pPr>
            <a:r>
              <a:rPr lang="en-US" sz="1673" spc="8">
                <a:solidFill>
                  <a:srgbClr val="2B2C30"/>
                </a:solidFill>
                <a:latin typeface="Playfair Display 1"/>
                <a:ea typeface="Playfair Display 1"/>
                <a:cs typeface="Playfair Display 1"/>
                <a:sym typeface="Playfair Display 1"/>
              </a:rPr>
              <a:t>To address these challenges, we are developing MediFit, an innovative healthcare app designed to make quality health services accessible and affordable for all. MediFit will serve as a comprehensive health management tool, allowing users to store their health data, receive lifestyle assessments, and access affordable healthcare recommendations. Through partnerships with NGOs and hospitals, MediFit will help bridge the healthcare gap, offering options for those who may not have access to premium medical services. </a:t>
            </a:r>
          </a:p>
          <a:p>
            <a:pPr algn="just">
              <a:lnSpc>
                <a:spcPts val="2175"/>
              </a:lnSpc>
            </a:pPr>
          </a:p>
          <a:p>
            <a:pPr algn="just">
              <a:lnSpc>
                <a:spcPts val="2175"/>
              </a:lnSpc>
            </a:pPr>
            <a:r>
              <a:rPr lang="en-US" sz="1673" spc="8">
                <a:solidFill>
                  <a:srgbClr val="2B2C30"/>
                </a:solidFill>
                <a:latin typeface="Playfair Display 1"/>
                <a:ea typeface="Playfair Display 1"/>
                <a:cs typeface="Playfair Display 1"/>
                <a:sym typeface="Playfair Display 1"/>
              </a:rPr>
              <a:t>Our mission with MediFit is to create a healthier world by ensuring that essential healthcare resources are within reach for everyone, regardless of financial background. </a:t>
            </a:r>
          </a:p>
          <a:p>
            <a:pPr algn="just">
              <a:lnSpc>
                <a:spcPts val="99"/>
              </a:lnSpc>
            </a:pPr>
          </a:p>
        </p:txBody>
      </p:sp>
      <p:sp>
        <p:nvSpPr>
          <p:cNvPr name="TextBox 3" id="3"/>
          <p:cNvSpPr txBox="true"/>
          <p:nvPr/>
        </p:nvSpPr>
        <p:spPr>
          <a:xfrm rot="0">
            <a:off x="671247"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1 Bold"/>
                <a:ea typeface="Playfair Display 1 Bold"/>
                <a:cs typeface="Playfair Display 1 Bold"/>
                <a:sym typeface="Playfair Display 1 Bold"/>
              </a:rPr>
              <a:t>THE TOPIC OF THE PLAN</a:t>
            </a:r>
          </a:p>
        </p:txBody>
      </p:sp>
      <p:sp>
        <p:nvSpPr>
          <p:cNvPr name="AutoShape 4" id="4"/>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sp>
        <p:nvSpPr>
          <p:cNvPr name="Freeform 5" id="5"/>
          <p:cNvSpPr/>
          <p:nvPr/>
        </p:nvSpPr>
        <p:spPr>
          <a:xfrm flipH="false" flipV="false" rot="0">
            <a:off x="8084099" y="685800"/>
            <a:ext cx="3407549" cy="6986022"/>
          </a:xfrm>
          <a:custGeom>
            <a:avLst/>
            <a:gdLst/>
            <a:ahLst/>
            <a:cxnLst/>
            <a:rect r="r" b="b" t="t" l="l"/>
            <a:pathLst>
              <a:path h="6986022" w="3407549">
                <a:moveTo>
                  <a:pt x="0" y="0"/>
                </a:moveTo>
                <a:lnTo>
                  <a:pt x="3407548" y="0"/>
                </a:lnTo>
                <a:lnTo>
                  <a:pt x="3407548" y="6986022"/>
                </a:lnTo>
                <a:lnTo>
                  <a:pt x="0" y="6986022"/>
                </a:lnTo>
                <a:lnTo>
                  <a:pt x="0" y="0"/>
                </a:lnTo>
                <a:close/>
              </a:path>
            </a:pathLst>
          </a:custGeom>
          <a:blipFill>
            <a:blip r:embed="rId2"/>
            <a:stretch>
              <a:fillRect l="0" t="-40" r="-747" b="-248"/>
            </a:stretch>
          </a:blipFill>
        </p:spPr>
      </p:sp>
      <p:sp>
        <p:nvSpPr>
          <p:cNvPr name="Freeform 6" id="6"/>
          <p:cNvSpPr/>
          <p:nvPr/>
        </p:nvSpPr>
        <p:spPr>
          <a:xfrm flipH="false" flipV="false" rot="-9742316">
            <a:off x="10032797" y="-200656"/>
            <a:ext cx="3432859" cy="2149828"/>
          </a:xfrm>
          <a:custGeom>
            <a:avLst/>
            <a:gdLst/>
            <a:ahLst/>
            <a:cxnLst/>
            <a:rect r="r" b="b" t="t" l="l"/>
            <a:pathLst>
              <a:path h="2149828" w="3432859">
                <a:moveTo>
                  <a:pt x="0" y="0"/>
                </a:moveTo>
                <a:lnTo>
                  <a:pt x="3432860" y="0"/>
                </a:lnTo>
                <a:lnTo>
                  <a:pt x="3432860" y="2149828"/>
                </a:lnTo>
                <a:lnTo>
                  <a:pt x="0" y="21498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71247"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1 Bold"/>
                <a:ea typeface="Playfair Display 1 Bold"/>
                <a:cs typeface="Playfair Display 1 Bold"/>
                <a:sym typeface="Playfair Display 1 Bold"/>
              </a:rPr>
              <a:t>MISSION &amp; VISION STATEMENT</a:t>
            </a:r>
          </a:p>
        </p:txBody>
      </p:sp>
      <p:sp>
        <p:nvSpPr>
          <p:cNvPr name="AutoShape 3" id="3"/>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sp>
        <p:nvSpPr>
          <p:cNvPr name="Freeform 4" id="4"/>
          <p:cNvSpPr/>
          <p:nvPr/>
        </p:nvSpPr>
        <p:spPr>
          <a:xfrm flipH="false" flipV="false" rot="-9742316">
            <a:off x="10032797" y="-200656"/>
            <a:ext cx="3432859" cy="2149828"/>
          </a:xfrm>
          <a:custGeom>
            <a:avLst/>
            <a:gdLst/>
            <a:ahLst/>
            <a:cxnLst/>
            <a:rect r="r" b="b" t="t" l="l"/>
            <a:pathLst>
              <a:path h="2149828" w="3432859">
                <a:moveTo>
                  <a:pt x="0" y="0"/>
                </a:moveTo>
                <a:lnTo>
                  <a:pt x="3432860" y="0"/>
                </a:lnTo>
                <a:lnTo>
                  <a:pt x="3432860" y="2149828"/>
                </a:lnTo>
                <a:lnTo>
                  <a:pt x="0" y="2149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5962654" y="1717274"/>
            <a:ext cx="5528993" cy="4793368"/>
          </a:xfrm>
          <a:prstGeom prst="rect">
            <a:avLst/>
          </a:prstGeom>
        </p:spPr>
        <p:txBody>
          <a:bodyPr anchor="t" rtlCol="false" tIns="0" lIns="0" bIns="0" rIns="0">
            <a:spAutoFit/>
          </a:bodyPr>
          <a:lstStyle/>
          <a:p>
            <a:pPr algn="just">
              <a:lnSpc>
                <a:spcPts val="2659"/>
              </a:lnSpc>
            </a:pPr>
            <a:r>
              <a:rPr lang="en-US" sz="1899" b="true">
                <a:solidFill>
                  <a:srgbClr val="000000"/>
                </a:solidFill>
                <a:latin typeface="Playfair Display 2 Bold"/>
                <a:ea typeface="Playfair Display 2 Bold"/>
                <a:cs typeface="Playfair Display 2 Bold"/>
                <a:sym typeface="Playfair Display 2 Bold"/>
              </a:rPr>
              <a:t>Vision</a:t>
            </a:r>
          </a:p>
          <a:p>
            <a:pPr algn="just">
              <a:lnSpc>
                <a:spcPts val="2337"/>
              </a:lnSpc>
            </a:pPr>
            <a:r>
              <a:rPr lang="en-US" sz="1669">
                <a:solidFill>
                  <a:srgbClr val="000000"/>
                </a:solidFill>
                <a:latin typeface="Playfair Display 2"/>
                <a:ea typeface="Playfair Display 2"/>
                <a:cs typeface="Playfair Display 2"/>
                <a:sym typeface="Playfair Display 2"/>
              </a:rPr>
              <a:t>To make healthcare accessible, organized, and affordable for all, regardless of geographic location or financial status, by leveraging technology and community partnerships.</a:t>
            </a:r>
          </a:p>
          <a:p>
            <a:pPr algn="just">
              <a:lnSpc>
                <a:spcPts val="2337"/>
              </a:lnSpc>
            </a:pPr>
          </a:p>
          <a:p>
            <a:pPr algn="just">
              <a:lnSpc>
                <a:spcPts val="2659"/>
              </a:lnSpc>
            </a:pPr>
            <a:r>
              <a:rPr lang="en-US" sz="1899" b="true">
                <a:solidFill>
                  <a:srgbClr val="000000"/>
                </a:solidFill>
                <a:latin typeface="Playfair Display 2 Bold"/>
                <a:ea typeface="Playfair Display 2 Bold"/>
                <a:cs typeface="Playfair Display 2 Bold"/>
                <a:sym typeface="Playfair Display 2 Bold"/>
              </a:rPr>
              <a:t>Mission</a:t>
            </a:r>
          </a:p>
          <a:p>
            <a:pPr algn="just">
              <a:lnSpc>
                <a:spcPts val="2337"/>
              </a:lnSpc>
            </a:pPr>
            <a:r>
              <a:rPr lang="en-US" sz="1669">
                <a:solidFill>
                  <a:srgbClr val="000000"/>
                </a:solidFill>
                <a:latin typeface="Playfair Display 2"/>
                <a:ea typeface="Playfair Display 2"/>
                <a:cs typeface="Playfair Display 2"/>
                <a:sym typeface="Playfair Display 2"/>
              </a:rPr>
              <a:t>MediFit is dedicated to empowering individuals to take charge of their health by providing a user-friendly platform that stores health data, offers lifestyle assessments, and connects users with affordable healthcare options. By collaborating with NGOs, hospitals, and other healthcare providers, MediFit aims to bridge the healthcare gap for underserved communities and make high-quality health services accessible to everyone.</a:t>
            </a:r>
          </a:p>
        </p:txBody>
      </p:sp>
      <p:grpSp>
        <p:nvGrpSpPr>
          <p:cNvPr name="Group 6" id="6"/>
          <p:cNvGrpSpPr/>
          <p:nvPr/>
        </p:nvGrpSpPr>
        <p:grpSpPr>
          <a:xfrm rot="0">
            <a:off x="3761077" y="2734596"/>
            <a:ext cx="1533439" cy="3287919"/>
            <a:chOff x="0" y="0"/>
            <a:chExt cx="2044585" cy="4383892"/>
          </a:xfrm>
        </p:grpSpPr>
        <p:grpSp>
          <p:nvGrpSpPr>
            <p:cNvPr name="Group 7" id="7"/>
            <p:cNvGrpSpPr>
              <a:grpSpLocks noChangeAspect="true"/>
            </p:cNvGrpSpPr>
            <p:nvPr/>
          </p:nvGrpSpPr>
          <p:grpSpPr>
            <a:xfrm rot="0">
              <a:off x="0" y="1149812"/>
              <a:ext cx="10160" cy="3234080"/>
              <a:chOff x="0" y="0"/>
              <a:chExt cx="7620" cy="2425560"/>
            </a:xfrm>
          </p:grpSpPr>
          <p:sp>
            <p:nvSpPr>
              <p:cNvPr name="Freeform 8" id="8"/>
              <p:cNvSpPr/>
              <p:nvPr/>
            </p:nvSpPr>
            <p:spPr>
              <a:xfrm flipH="false" flipV="false" rot="0">
                <a:off x="0" y="0"/>
                <a:ext cx="7620" cy="2425572"/>
              </a:xfrm>
              <a:custGeom>
                <a:avLst/>
                <a:gdLst/>
                <a:ahLst/>
                <a:cxnLst/>
                <a:rect r="r" b="b" t="t" l="l"/>
                <a:pathLst>
                  <a:path h="2425572" w="7620">
                    <a:moveTo>
                      <a:pt x="7620" y="0"/>
                    </a:moveTo>
                    <a:lnTo>
                      <a:pt x="7620" y="30480"/>
                    </a:lnTo>
                    <a:lnTo>
                      <a:pt x="0" y="30480"/>
                    </a:lnTo>
                    <a:lnTo>
                      <a:pt x="0" y="0"/>
                    </a:lnTo>
                    <a:lnTo>
                      <a:pt x="7620" y="0"/>
                    </a:lnTo>
                    <a:close/>
                    <a:moveTo>
                      <a:pt x="7620" y="53340"/>
                    </a:moveTo>
                    <a:lnTo>
                      <a:pt x="7620" y="83820"/>
                    </a:lnTo>
                    <a:lnTo>
                      <a:pt x="0" y="83820"/>
                    </a:lnTo>
                    <a:lnTo>
                      <a:pt x="0" y="53340"/>
                    </a:lnTo>
                    <a:lnTo>
                      <a:pt x="7620" y="53340"/>
                    </a:lnTo>
                    <a:close/>
                    <a:moveTo>
                      <a:pt x="7620" y="106680"/>
                    </a:moveTo>
                    <a:lnTo>
                      <a:pt x="7620" y="137160"/>
                    </a:lnTo>
                    <a:lnTo>
                      <a:pt x="0" y="137160"/>
                    </a:lnTo>
                    <a:lnTo>
                      <a:pt x="0" y="106680"/>
                    </a:lnTo>
                    <a:lnTo>
                      <a:pt x="7620" y="106680"/>
                    </a:lnTo>
                    <a:close/>
                    <a:moveTo>
                      <a:pt x="7620" y="160020"/>
                    </a:moveTo>
                    <a:lnTo>
                      <a:pt x="7620" y="190500"/>
                    </a:lnTo>
                    <a:lnTo>
                      <a:pt x="0" y="190500"/>
                    </a:lnTo>
                    <a:lnTo>
                      <a:pt x="0" y="160020"/>
                    </a:lnTo>
                    <a:lnTo>
                      <a:pt x="7620" y="160020"/>
                    </a:lnTo>
                    <a:close/>
                    <a:moveTo>
                      <a:pt x="7620" y="213360"/>
                    </a:moveTo>
                    <a:lnTo>
                      <a:pt x="7620" y="243840"/>
                    </a:lnTo>
                    <a:lnTo>
                      <a:pt x="0" y="243840"/>
                    </a:lnTo>
                    <a:lnTo>
                      <a:pt x="0" y="213360"/>
                    </a:lnTo>
                    <a:lnTo>
                      <a:pt x="7620" y="213360"/>
                    </a:lnTo>
                    <a:close/>
                    <a:moveTo>
                      <a:pt x="7620" y="266700"/>
                    </a:moveTo>
                    <a:lnTo>
                      <a:pt x="7620" y="297180"/>
                    </a:lnTo>
                    <a:lnTo>
                      <a:pt x="0" y="297180"/>
                    </a:lnTo>
                    <a:lnTo>
                      <a:pt x="0" y="266700"/>
                    </a:lnTo>
                    <a:lnTo>
                      <a:pt x="7620" y="266700"/>
                    </a:lnTo>
                    <a:close/>
                    <a:moveTo>
                      <a:pt x="7620" y="320040"/>
                    </a:moveTo>
                    <a:lnTo>
                      <a:pt x="7620" y="350520"/>
                    </a:lnTo>
                    <a:lnTo>
                      <a:pt x="0" y="350520"/>
                    </a:lnTo>
                    <a:lnTo>
                      <a:pt x="0" y="320040"/>
                    </a:lnTo>
                    <a:lnTo>
                      <a:pt x="7620" y="320040"/>
                    </a:lnTo>
                    <a:close/>
                    <a:moveTo>
                      <a:pt x="7620" y="373380"/>
                    </a:moveTo>
                    <a:lnTo>
                      <a:pt x="7620" y="403860"/>
                    </a:lnTo>
                    <a:lnTo>
                      <a:pt x="0" y="403860"/>
                    </a:lnTo>
                    <a:lnTo>
                      <a:pt x="0" y="373380"/>
                    </a:lnTo>
                    <a:lnTo>
                      <a:pt x="7620" y="373380"/>
                    </a:lnTo>
                    <a:close/>
                    <a:moveTo>
                      <a:pt x="7620" y="426720"/>
                    </a:moveTo>
                    <a:lnTo>
                      <a:pt x="7620" y="457200"/>
                    </a:lnTo>
                    <a:lnTo>
                      <a:pt x="0" y="457200"/>
                    </a:lnTo>
                    <a:lnTo>
                      <a:pt x="0" y="426720"/>
                    </a:lnTo>
                    <a:lnTo>
                      <a:pt x="7620" y="426720"/>
                    </a:lnTo>
                    <a:close/>
                    <a:moveTo>
                      <a:pt x="7620" y="480060"/>
                    </a:moveTo>
                    <a:lnTo>
                      <a:pt x="7620" y="510540"/>
                    </a:lnTo>
                    <a:lnTo>
                      <a:pt x="0" y="510540"/>
                    </a:lnTo>
                    <a:lnTo>
                      <a:pt x="0" y="480060"/>
                    </a:lnTo>
                    <a:lnTo>
                      <a:pt x="7620" y="480060"/>
                    </a:lnTo>
                    <a:close/>
                    <a:moveTo>
                      <a:pt x="7620" y="533400"/>
                    </a:moveTo>
                    <a:lnTo>
                      <a:pt x="7620" y="563880"/>
                    </a:lnTo>
                    <a:lnTo>
                      <a:pt x="0" y="563880"/>
                    </a:lnTo>
                    <a:lnTo>
                      <a:pt x="0" y="533400"/>
                    </a:lnTo>
                    <a:lnTo>
                      <a:pt x="7620" y="533400"/>
                    </a:lnTo>
                    <a:close/>
                    <a:moveTo>
                      <a:pt x="7620" y="586740"/>
                    </a:moveTo>
                    <a:lnTo>
                      <a:pt x="7620" y="617220"/>
                    </a:lnTo>
                    <a:lnTo>
                      <a:pt x="0" y="617220"/>
                    </a:lnTo>
                    <a:lnTo>
                      <a:pt x="0" y="586740"/>
                    </a:lnTo>
                    <a:lnTo>
                      <a:pt x="7620" y="586740"/>
                    </a:lnTo>
                    <a:close/>
                    <a:moveTo>
                      <a:pt x="7620" y="640080"/>
                    </a:moveTo>
                    <a:lnTo>
                      <a:pt x="7620" y="670560"/>
                    </a:lnTo>
                    <a:lnTo>
                      <a:pt x="0" y="670560"/>
                    </a:lnTo>
                    <a:lnTo>
                      <a:pt x="0" y="640080"/>
                    </a:lnTo>
                    <a:lnTo>
                      <a:pt x="7620" y="640080"/>
                    </a:lnTo>
                    <a:close/>
                    <a:moveTo>
                      <a:pt x="7620" y="693420"/>
                    </a:moveTo>
                    <a:lnTo>
                      <a:pt x="7620" y="723900"/>
                    </a:lnTo>
                    <a:lnTo>
                      <a:pt x="0" y="723900"/>
                    </a:lnTo>
                    <a:lnTo>
                      <a:pt x="0" y="693420"/>
                    </a:lnTo>
                    <a:lnTo>
                      <a:pt x="7620" y="693420"/>
                    </a:lnTo>
                    <a:close/>
                    <a:moveTo>
                      <a:pt x="7620" y="746760"/>
                    </a:moveTo>
                    <a:lnTo>
                      <a:pt x="7620" y="777240"/>
                    </a:lnTo>
                    <a:lnTo>
                      <a:pt x="0" y="777240"/>
                    </a:lnTo>
                    <a:lnTo>
                      <a:pt x="0" y="746760"/>
                    </a:lnTo>
                    <a:lnTo>
                      <a:pt x="7620" y="746760"/>
                    </a:lnTo>
                    <a:close/>
                    <a:moveTo>
                      <a:pt x="7620" y="800100"/>
                    </a:moveTo>
                    <a:lnTo>
                      <a:pt x="7620" y="830580"/>
                    </a:lnTo>
                    <a:lnTo>
                      <a:pt x="0" y="830580"/>
                    </a:lnTo>
                    <a:lnTo>
                      <a:pt x="0" y="800100"/>
                    </a:lnTo>
                    <a:lnTo>
                      <a:pt x="7620" y="800100"/>
                    </a:lnTo>
                    <a:close/>
                    <a:moveTo>
                      <a:pt x="7620" y="853440"/>
                    </a:moveTo>
                    <a:lnTo>
                      <a:pt x="7620" y="883920"/>
                    </a:lnTo>
                    <a:lnTo>
                      <a:pt x="0" y="883920"/>
                    </a:lnTo>
                    <a:lnTo>
                      <a:pt x="0" y="853440"/>
                    </a:lnTo>
                    <a:lnTo>
                      <a:pt x="7620" y="853440"/>
                    </a:lnTo>
                    <a:close/>
                    <a:moveTo>
                      <a:pt x="7620" y="906780"/>
                    </a:moveTo>
                    <a:lnTo>
                      <a:pt x="7620" y="937260"/>
                    </a:lnTo>
                    <a:lnTo>
                      <a:pt x="0" y="937260"/>
                    </a:lnTo>
                    <a:lnTo>
                      <a:pt x="0" y="906780"/>
                    </a:lnTo>
                    <a:lnTo>
                      <a:pt x="7620" y="906780"/>
                    </a:lnTo>
                    <a:close/>
                    <a:moveTo>
                      <a:pt x="7620" y="960120"/>
                    </a:moveTo>
                    <a:lnTo>
                      <a:pt x="7620" y="990600"/>
                    </a:lnTo>
                    <a:lnTo>
                      <a:pt x="0" y="990600"/>
                    </a:lnTo>
                    <a:lnTo>
                      <a:pt x="0" y="960120"/>
                    </a:lnTo>
                    <a:lnTo>
                      <a:pt x="7620" y="960120"/>
                    </a:lnTo>
                    <a:close/>
                    <a:moveTo>
                      <a:pt x="7620" y="1013460"/>
                    </a:moveTo>
                    <a:lnTo>
                      <a:pt x="7620" y="1043940"/>
                    </a:lnTo>
                    <a:lnTo>
                      <a:pt x="0" y="1043940"/>
                    </a:lnTo>
                    <a:lnTo>
                      <a:pt x="0" y="1013460"/>
                    </a:lnTo>
                    <a:lnTo>
                      <a:pt x="7620" y="1013460"/>
                    </a:lnTo>
                    <a:close/>
                    <a:moveTo>
                      <a:pt x="7620" y="1066800"/>
                    </a:moveTo>
                    <a:lnTo>
                      <a:pt x="7620" y="1097280"/>
                    </a:lnTo>
                    <a:lnTo>
                      <a:pt x="0" y="1097280"/>
                    </a:lnTo>
                    <a:lnTo>
                      <a:pt x="0" y="1066800"/>
                    </a:lnTo>
                    <a:lnTo>
                      <a:pt x="7620" y="1066800"/>
                    </a:lnTo>
                    <a:close/>
                    <a:moveTo>
                      <a:pt x="7620" y="1120140"/>
                    </a:moveTo>
                    <a:lnTo>
                      <a:pt x="7620" y="1150620"/>
                    </a:lnTo>
                    <a:lnTo>
                      <a:pt x="0" y="1150620"/>
                    </a:lnTo>
                    <a:lnTo>
                      <a:pt x="0" y="1120140"/>
                    </a:lnTo>
                    <a:lnTo>
                      <a:pt x="7620" y="1120140"/>
                    </a:lnTo>
                    <a:close/>
                    <a:moveTo>
                      <a:pt x="7620" y="1173480"/>
                    </a:moveTo>
                    <a:lnTo>
                      <a:pt x="7620" y="1203960"/>
                    </a:lnTo>
                    <a:lnTo>
                      <a:pt x="0" y="1203960"/>
                    </a:lnTo>
                    <a:lnTo>
                      <a:pt x="0" y="1173480"/>
                    </a:lnTo>
                    <a:lnTo>
                      <a:pt x="7620" y="1173480"/>
                    </a:lnTo>
                    <a:close/>
                    <a:moveTo>
                      <a:pt x="7620" y="1226820"/>
                    </a:moveTo>
                    <a:lnTo>
                      <a:pt x="7620" y="1257300"/>
                    </a:lnTo>
                    <a:lnTo>
                      <a:pt x="0" y="1257300"/>
                    </a:lnTo>
                    <a:lnTo>
                      <a:pt x="0" y="1226820"/>
                    </a:lnTo>
                    <a:lnTo>
                      <a:pt x="7620" y="1226820"/>
                    </a:lnTo>
                    <a:close/>
                    <a:moveTo>
                      <a:pt x="7620" y="1280160"/>
                    </a:moveTo>
                    <a:lnTo>
                      <a:pt x="7620" y="1310640"/>
                    </a:lnTo>
                    <a:lnTo>
                      <a:pt x="0" y="1310640"/>
                    </a:lnTo>
                    <a:lnTo>
                      <a:pt x="0" y="1280160"/>
                    </a:lnTo>
                    <a:lnTo>
                      <a:pt x="7620" y="1280160"/>
                    </a:lnTo>
                    <a:close/>
                    <a:moveTo>
                      <a:pt x="7620" y="1333500"/>
                    </a:moveTo>
                    <a:lnTo>
                      <a:pt x="7620" y="1363980"/>
                    </a:lnTo>
                    <a:lnTo>
                      <a:pt x="0" y="1363980"/>
                    </a:lnTo>
                    <a:lnTo>
                      <a:pt x="0" y="1333500"/>
                    </a:lnTo>
                    <a:lnTo>
                      <a:pt x="7620" y="1333500"/>
                    </a:lnTo>
                    <a:close/>
                    <a:moveTo>
                      <a:pt x="7620" y="1386840"/>
                    </a:moveTo>
                    <a:lnTo>
                      <a:pt x="7620" y="1417320"/>
                    </a:lnTo>
                    <a:lnTo>
                      <a:pt x="0" y="1417320"/>
                    </a:lnTo>
                    <a:lnTo>
                      <a:pt x="0" y="1386840"/>
                    </a:lnTo>
                    <a:lnTo>
                      <a:pt x="7620" y="1386840"/>
                    </a:lnTo>
                    <a:close/>
                    <a:moveTo>
                      <a:pt x="7620" y="1440180"/>
                    </a:moveTo>
                    <a:lnTo>
                      <a:pt x="7620" y="1470660"/>
                    </a:lnTo>
                    <a:lnTo>
                      <a:pt x="0" y="1470660"/>
                    </a:lnTo>
                    <a:lnTo>
                      <a:pt x="0" y="1440180"/>
                    </a:lnTo>
                    <a:lnTo>
                      <a:pt x="7620" y="1440180"/>
                    </a:lnTo>
                    <a:close/>
                    <a:moveTo>
                      <a:pt x="7620" y="1493520"/>
                    </a:moveTo>
                    <a:lnTo>
                      <a:pt x="7620" y="1524000"/>
                    </a:lnTo>
                    <a:lnTo>
                      <a:pt x="0" y="1524000"/>
                    </a:lnTo>
                    <a:lnTo>
                      <a:pt x="0" y="1493520"/>
                    </a:lnTo>
                    <a:lnTo>
                      <a:pt x="7620" y="1493520"/>
                    </a:lnTo>
                    <a:close/>
                    <a:moveTo>
                      <a:pt x="7620" y="1546860"/>
                    </a:moveTo>
                    <a:lnTo>
                      <a:pt x="7620" y="1577340"/>
                    </a:lnTo>
                    <a:lnTo>
                      <a:pt x="0" y="1577340"/>
                    </a:lnTo>
                    <a:lnTo>
                      <a:pt x="0" y="1546860"/>
                    </a:lnTo>
                    <a:lnTo>
                      <a:pt x="7620" y="1546860"/>
                    </a:lnTo>
                    <a:close/>
                    <a:moveTo>
                      <a:pt x="7620" y="1600200"/>
                    </a:moveTo>
                    <a:lnTo>
                      <a:pt x="7620" y="1630680"/>
                    </a:lnTo>
                    <a:lnTo>
                      <a:pt x="0" y="1630680"/>
                    </a:lnTo>
                    <a:lnTo>
                      <a:pt x="0" y="1600200"/>
                    </a:lnTo>
                    <a:lnTo>
                      <a:pt x="7620" y="1600200"/>
                    </a:lnTo>
                    <a:close/>
                    <a:moveTo>
                      <a:pt x="7620" y="1653540"/>
                    </a:moveTo>
                    <a:lnTo>
                      <a:pt x="7620" y="1684019"/>
                    </a:lnTo>
                    <a:lnTo>
                      <a:pt x="0" y="1684019"/>
                    </a:lnTo>
                    <a:lnTo>
                      <a:pt x="0" y="1653540"/>
                    </a:lnTo>
                    <a:lnTo>
                      <a:pt x="7620" y="1653540"/>
                    </a:lnTo>
                    <a:close/>
                    <a:moveTo>
                      <a:pt x="7620" y="1706880"/>
                    </a:moveTo>
                    <a:lnTo>
                      <a:pt x="7620" y="1737359"/>
                    </a:lnTo>
                    <a:lnTo>
                      <a:pt x="0" y="1737359"/>
                    </a:lnTo>
                    <a:lnTo>
                      <a:pt x="0" y="1706880"/>
                    </a:lnTo>
                    <a:lnTo>
                      <a:pt x="7620" y="1706880"/>
                    </a:lnTo>
                    <a:close/>
                    <a:moveTo>
                      <a:pt x="7620" y="1760219"/>
                    </a:moveTo>
                    <a:lnTo>
                      <a:pt x="7620" y="1790700"/>
                    </a:lnTo>
                    <a:lnTo>
                      <a:pt x="0" y="1790700"/>
                    </a:lnTo>
                    <a:lnTo>
                      <a:pt x="0" y="1760220"/>
                    </a:lnTo>
                    <a:lnTo>
                      <a:pt x="7620" y="1760220"/>
                    </a:lnTo>
                    <a:close/>
                    <a:moveTo>
                      <a:pt x="7620" y="1813559"/>
                    </a:moveTo>
                    <a:lnTo>
                      <a:pt x="7620" y="1844039"/>
                    </a:lnTo>
                    <a:lnTo>
                      <a:pt x="0" y="1844039"/>
                    </a:lnTo>
                    <a:lnTo>
                      <a:pt x="0" y="1813559"/>
                    </a:lnTo>
                    <a:lnTo>
                      <a:pt x="7620" y="1813559"/>
                    </a:lnTo>
                    <a:close/>
                    <a:moveTo>
                      <a:pt x="7620" y="1866899"/>
                    </a:moveTo>
                    <a:lnTo>
                      <a:pt x="7620" y="1897379"/>
                    </a:lnTo>
                    <a:lnTo>
                      <a:pt x="0" y="1897379"/>
                    </a:lnTo>
                    <a:lnTo>
                      <a:pt x="0" y="1866900"/>
                    </a:lnTo>
                    <a:lnTo>
                      <a:pt x="7620" y="1866900"/>
                    </a:lnTo>
                    <a:close/>
                    <a:moveTo>
                      <a:pt x="7620" y="1920239"/>
                    </a:moveTo>
                    <a:lnTo>
                      <a:pt x="7620" y="1950719"/>
                    </a:lnTo>
                    <a:lnTo>
                      <a:pt x="0" y="1950719"/>
                    </a:lnTo>
                    <a:lnTo>
                      <a:pt x="0" y="1920239"/>
                    </a:lnTo>
                    <a:lnTo>
                      <a:pt x="7620" y="1920239"/>
                    </a:lnTo>
                    <a:close/>
                    <a:moveTo>
                      <a:pt x="7620" y="1973579"/>
                    </a:moveTo>
                    <a:lnTo>
                      <a:pt x="7620" y="2004059"/>
                    </a:lnTo>
                    <a:lnTo>
                      <a:pt x="0" y="2004059"/>
                    </a:lnTo>
                    <a:lnTo>
                      <a:pt x="0" y="1973579"/>
                    </a:lnTo>
                    <a:lnTo>
                      <a:pt x="7620" y="1973579"/>
                    </a:lnTo>
                    <a:close/>
                    <a:moveTo>
                      <a:pt x="7620" y="2026919"/>
                    </a:moveTo>
                    <a:lnTo>
                      <a:pt x="7620" y="2057400"/>
                    </a:lnTo>
                    <a:lnTo>
                      <a:pt x="0" y="2057400"/>
                    </a:lnTo>
                    <a:lnTo>
                      <a:pt x="0" y="2026920"/>
                    </a:lnTo>
                    <a:lnTo>
                      <a:pt x="7620" y="2026920"/>
                    </a:lnTo>
                    <a:close/>
                    <a:moveTo>
                      <a:pt x="7620" y="2080259"/>
                    </a:moveTo>
                    <a:lnTo>
                      <a:pt x="7620" y="2110739"/>
                    </a:lnTo>
                    <a:lnTo>
                      <a:pt x="0" y="2110739"/>
                    </a:lnTo>
                    <a:lnTo>
                      <a:pt x="0" y="2080259"/>
                    </a:lnTo>
                    <a:lnTo>
                      <a:pt x="7620" y="2080259"/>
                    </a:lnTo>
                    <a:close/>
                    <a:moveTo>
                      <a:pt x="7620" y="2133599"/>
                    </a:moveTo>
                    <a:lnTo>
                      <a:pt x="7620" y="2164079"/>
                    </a:lnTo>
                    <a:lnTo>
                      <a:pt x="0" y="2164079"/>
                    </a:lnTo>
                    <a:lnTo>
                      <a:pt x="0" y="2133600"/>
                    </a:lnTo>
                    <a:lnTo>
                      <a:pt x="7620" y="2133600"/>
                    </a:lnTo>
                    <a:close/>
                    <a:moveTo>
                      <a:pt x="7620" y="2186939"/>
                    </a:moveTo>
                    <a:lnTo>
                      <a:pt x="7620" y="2217419"/>
                    </a:lnTo>
                    <a:lnTo>
                      <a:pt x="0" y="2217419"/>
                    </a:lnTo>
                    <a:lnTo>
                      <a:pt x="0" y="2186939"/>
                    </a:lnTo>
                    <a:lnTo>
                      <a:pt x="7620" y="2186939"/>
                    </a:lnTo>
                    <a:close/>
                    <a:moveTo>
                      <a:pt x="7620" y="2240279"/>
                    </a:moveTo>
                    <a:lnTo>
                      <a:pt x="7620" y="2270759"/>
                    </a:lnTo>
                    <a:lnTo>
                      <a:pt x="0" y="2270759"/>
                    </a:lnTo>
                    <a:lnTo>
                      <a:pt x="0" y="2240279"/>
                    </a:lnTo>
                    <a:lnTo>
                      <a:pt x="7620" y="2240279"/>
                    </a:lnTo>
                    <a:close/>
                    <a:moveTo>
                      <a:pt x="7620" y="2293619"/>
                    </a:moveTo>
                    <a:lnTo>
                      <a:pt x="7620" y="2324100"/>
                    </a:lnTo>
                    <a:lnTo>
                      <a:pt x="0" y="2324100"/>
                    </a:lnTo>
                    <a:lnTo>
                      <a:pt x="0" y="2293620"/>
                    </a:lnTo>
                    <a:lnTo>
                      <a:pt x="7620" y="2293620"/>
                    </a:lnTo>
                    <a:close/>
                    <a:moveTo>
                      <a:pt x="7620" y="2346959"/>
                    </a:moveTo>
                    <a:lnTo>
                      <a:pt x="7620" y="2377439"/>
                    </a:lnTo>
                    <a:lnTo>
                      <a:pt x="0" y="2377439"/>
                    </a:lnTo>
                    <a:lnTo>
                      <a:pt x="0" y="2346959"/>
                    </a:lnTo>
                    <a:lnTo>
                      <a:pt x="7620" y="2346959"/>
                    </a:lnTo>
                    <a:close/>
                    <a:moveTo>
                      <a:pt x="7620" y="2400299"/>
                    </a:moveTo>
                    <a:lnTo>
                      <a:pt x="7620" y="2425572"/>
                    </a:lnTo>
                    <a:lnTo>
                      <a:pt x="0" y="2425572"/>
                    </a:lnTo>
                    <a:lnTo>
                      <a:pt x="0" y="2400300"/>
                    </a:lnTo>
                    <a:lnTo>
                      <a:pt x="7620" y="2400300"/>
                    </a:lnTo>
                  </a:path>
                </a:pathLst>
              </a:custGeom>
              <a:solidFill>
                <a:srgbClr val="FFFFFF"/>
              </a:solidFill>
            </p:spPr>
          </p:sp>
        </p:grpSp>
        <p:sp>
          <p:nvSpPr>
            <p:cNvPr name="AutoShape 9" id="9"/>
            <p:cNvSpPr/>
            <p:nvPr/>
          </p:nvSpPr>
          <p:spPr>
            <a:xfrm>
              <a:off x="1409585" y="25400"/>
              <a:ext cx="0" cy="2143004"/>
            </a:xfrm>
            <a:prstGeom prst="line">
              <a:avLst/>
            </a:prstGeom>
            <a:ln cap="flat" w="50800">
              <a:solidFill>
                <a:srgbClr val="000000"/>
              </a:solidFill>
              <a:prstDash val="sysDot"/>
              <a:headEnd type="none" len="sm" w="sm"/>
              <a:tailEnd type="none" len="sm" w="sm"/>
            </a:ln>
          </p:spPr>
        </p:sp>
        <p:sp>
          <p:nvSpPr>
            <p:cNvPr name="AutoShape 10" id="10"/>
            <p:cNvSpPr/>
            <p:nvPr/>
          </p:nvSpPr>
          <p:spPr>
            <a:xfrm>
              <a:off x="1409585" y="2168404"/>
              <a:ext cx="0" cy="2148425"/>
            </a:xfrm>
            <a:prstGeom prst="line">
              <a:avLst/>
            </a:prstGeom>
            <a:ln cap="flat" w="50800">
              <a:solidFill>
                <a:srgbClr val="000000"/>
              </a:solidFill>
              <a:prstDash val="sysDot"/>
              <a:headEnd type="none" len="sm" w="sm"/>
              <a:tailEnd type="none" len="sm" w="sm"/>
            </a:ln>
          </p:spPr>
        </p:sp>
      </p:grpSp>
      <p:grpSp>
        <p:nvGrpSpPr>
          <p:cNvPr name="Group 11" id="11"/>
          <p:cNvGrpSpPr/>
          <p:nvPr/>
        </p:nvGrpSpPr>
        <p:grpSpPr>
          <a:xfrm rot="0">
            <a:off x="671247" y="2079980"/>
            <a:ext cx="4371441" cy="1277880"/>
            <a:chOff x="0" y="0"/>
            <a:chExt cx="1463376" cy="427781"/>
          </a:xfrm>
        </p:grpSpPr>
        <p:sp>
          <p:nvSpPr>
            <p:cNvPr name="Freeform 12" id="12"/>
            <p:cNvSpPr/>
            <p:nvPr/>
          </p:nvSpPr>
          <p:spPr>
            <a:xfrm flipH="false" flipV="false" rot="0">
              <a:off x="0" y="0"/>
              <a:ext cx="1463376" cy="427781"/>
            </a:xfrm>
            <a:custGeom>
              <a:avLst/>
              <a:gdLst/>
              <a:ahLst/>
              <a:cxnLst/>
              <a:rect r="r" b="b" t="t" l="l"/>
              <a:pathLst>
                <a:path h="427781" w="1463376">
                  <a:moveTo>
                    <a:pt x="26565" y="0"/>
                  </a:moveTo>
                  <a:lnTo>
                    <a:pt x="1436810" y="0"/>
                  </a:lnTo>
                  <a:cubicBezTo>
                    <a:pt x="1443856" y="0"/>
                    <a:pt x="1450613" y="2799"/>
                    <a:pt x="1455595" y="7781"/>
                  </a:cubicBezTo>
                  <a:cubicBezTo>
                    <a:pt x="1460577" y="12763"/>
                    <a:pt x="1463376" y="19520"/>
                    <a:pt x="1463376" y="26565"/>
                  </a:cubicBezTo>
                  <a:lnTo>
                    <a:pt x="1463376" y="401216"/>
                  </a:lnTo>
                  <a:cubicBezTo>
                    <a:pt x="1463376" y="408261"/>
                    <a:pt x="1460577" y="415018"/>
                    <a:pt x="1455595" y="420000"/>
                  </a:cubicBezTo>
                  <a:cubicBezTo>
                    <a:pt x="1450613" y="424982"/>
                    <a:pt x="1443856" y="427781"/>
                    <a:pt x="1436810" y="427781"/>
                  </a:cubicBezTo>
                  <a:lnTo>
                    <a:pt x="26565" y="427781"/>
                  </a:lnTo>
                  <a:cubicBezTo>
                    <a:pt x="19520" y="427781"/>
                    <a:pt x="12763" y="424982"/>
                    <a:pt x="7781" y="420000"/>
                  </a:cubicBezTo>
                  <a:cubicBezTo>
                    <a:pt x="2799" y="415018"/>
                    <a:pt x="0" y="408261"/>
                    <a:pt x="0" y="401216"/>
                  </a:cubicBezTo>
                  <a:lnTo>
                    <a:pt x="0" y="26565"/>
                  </a:lnTo>
                  <a:cubicBezTo>
                    <a:pt x="0" y="19520"/>
                    <a:pt x="2799" y="12763"/>
                    <a:pt x="7781" y="7781"/>
                  </a:cubicBezTo>
                  <a:cubicBezTo>
                    <a:pt x="12763" y="2799"/>
                    <a:pt x="19520" y="0"/>
                    <a:pt x="26565" y="0"/>
                  </a:cubicBezTo>
                  <a:close/>
                </a:path>
              </a:pathLst>
            </a:custGeom>
            <a:solidFill>
              <a:srgbClr val="8AB7E2"/>
            </a:solidFill>
          </p:spPr>
        </p:sp>
        <p:sp>
          <p:nvSpPr>
            <p:cNvPr name="TextBox 13" id="13"/>
            <p:cNvSpPr txBox="true"/>
            <p:nvPr/>
          </p:nvSpPr>
          <p:spPr>
            <a:xfrm>
              <a:off x="0" y="85725"/>
              <a:ext cx="1463376" cy="342056"/>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671247" y="3752679"/>
            <a:ext cx="4371441" cy="1277880"/>
            <a:chOff x="0" y="0"/>
            <a:chExt cx="1463376" cy="427781"/>
          </a:xfrm>
        </p:grpSpPr>
        <p:sp>
          <p:nvSpPr>
            <p:cNvPr name="Freeform 15" id="15"/>
            <p:cNvSpPr/>
            <p:nvPr/>
          </p:nvSpPr>
          <p:spPr>
            <a:xfrm flipH="false" flipV="false" rot="0">
              <a:off x="0" y="0"/>
              <a:ext cx="1463376" cy="427781"/>
            </a:xfrm>
            <a:custGeom>
              <a:avLst/>
              <a:gdLst/>
              <a:ahLst/>
              <a:cxnLst/>
              <a:rect r="r" b="b" t="t" l="l"/>
              <a:pathLst>
                <a:path h="427781" w="1463376">
                  <a:moveTo>
                    <a:pt x="26565" y="0"/>
                  </a:moveTo>
                  <a:lnTo>
                    <a:pt x="1436810" y="0"/>
                  </a:lnTo>
                  <a:cubicBezTo>
                    <a:pt x="1443856" y="0"/>
                    <a:pt x="1450613" y="2799"/>
                    <a:pt x="1455595" y="7781"/>
                  </a:cubicBezTo>
                  <a:cubicBezTo>
                    <a:pt x="1460577" y="12763"/>
                    <a:pt x="1463376" y="19520"/>
                    <a:pt x="1463376" y="26565"/>
                  </a:cubicBezTo>
                  <a:lnTo>
                    <a:pt x="1463376" y="401216"/>
                  </a:lnTo>
                  <a:cubicBezTo>
                    <a:pt x="1463376" y="408261"/>
                    <a:pt x="1460577" y="415018"/>
                    <a:pt x="1455595" y="420000"/>
                  </a:cubicBezTo>
                  <a:cubicBezTo>
                    <a:pt x="1450613" y="424982"/>
                    <a:pt x="1443856" y="427781"/>
                    <a:pt x="1436810" y="427781"/>
                  </a:cubicBezTo>
                  <a:lnTo>
                    <a:pt x="26565" y="427781"/>
                  </a:lnTo>
                  <a:cubicBezTo>
                    <a:pt x="19520" y="427781"/>
                    <a:pt x="12763" y="424982"/>
                    <a:pt x="7781" y="420000"/>
                  </a:cubicBezTo>
                  <a:cubicBezTo>
                    <a:pt x="2799" y="415018"/>
                    <a:pt x="0" y="408261"/>
                    <a:pt x="0" y="401216"/>
                  </a:cubicBezTo>
                  <a:lnTo>
                    <a:pt x="0" y="26565"/>
                  </a:lnTo>
                  <a:cubicBezTo>
                    <a:pt x="0" y="19520"/>
                    <a:pt x="2799" y="12763"/>
                    <a:pt x="7781" y="7781"/>
                  </a:cubicBezTo>
                  <a:cubicBezTo>
                    <a:pt x="12763" y="2799"/>
                    <a:pt x="19520" y="0"/>
                    <a:pt x="26565" y="0"/>
                  </a:cubicBezTo>
                  <a:close/>
                </a:path>
              </a:pathLst>
            </a:custGeom>
            <a:solidFill>
              <a:srgbClr val="8AB7E2"/>
            </a:solidFill>
          </p:spPr>
        </p:sp>
        <p:sp>
          <p:nvSpPr>
            <p:cNvPr name="TextBox 16" id="16"/>
            <p:cNvSpPr txBox="true"/>
            <p:nvPr/>
          </p:nvSpPr>
          <p:spPr>
            <a:xfrm>
              <a:off x="0" y="85725"/>
              <a:ext cx="1463376" cy="342056"/>
            </a:xfrm>
            <a:prstGeom prst="rect">
              <a:avLst/>
            </a:prstGeom>
          </p:spPr>
          <p:txBody>
            <a:bodyPr anchor="ctr" rtlCol="false" tIns="50800" lIns="50800" bIns="50800" rIns="50800"/>
            <a:lstStyle/>
            <a:p>
              <a:pPr algn="ctr">
                <a:lnSpc>
                  <a:spcPts val="1925"/>
                </a:lnSpc>
              </a:pPr>
            </a:p>
          </p:txBody>
        </p:sp>
      </p:grpSp>
      <p:grpSp>
        <p:nvGrpSpPr>
          <p:cNvPr name="Group 17" id="17"/>
          <p:cNvGrpSpPr/>
          <p:nvPr/>
        </p:nvGrpSpPr>
        <p:grpSpPr>
          <a:xfrm rot="0">
            <a:off x="671247" y="5232762"/>
            <a:ext cx="4371441" cy="1277880"/>
            <a:chOff x="0" y="0"/>
            <a:chExt cx="1463376" cy="427781"/>
          </a:xfrm>
        </p:grpSpPr>
        <p:sp>
          <p:nvSpPr>
            <p:cNvPr name="Freeform 18" id="18"/>
            <p:cNvSpPr/>
            <p:nvPr/>
          </p:nvSpPr>
          <p:spPr>
            <a:xfrm flipH="false" flipV="false" rot="0">
              <a:off x="0" y="0"/>
              <a:ext cx="1463376" cy="427781"/>
            </a:xfrm>
            <a:custGeom>
              <a:avLst/>
              <a:gdLst/>
              <a:ahLst/>
              <a:cxnLst/>
              <a:rect r="r" b="b" t="t" l="l"/>
              <a:pathLst>
                <a:path h="427781" w="1463376">
                  <a:moveTo>
                    <a:pt x="26565" y="0"/>
                  </a:moveTo>
                  <a:lnTo>
                    <a:pt x="1436810" y="0"/>
                  </a:lnTo>
                  <a:cubicBezTo>
                    <a:pt x="1443856" y="0"/>
                    <a:pt x="1450613" y="2799"/>
                    <a:pt x="1455595" y="7781"/>
                  </a:cubicBezTo>
                  <a:cubicBezTo>
                    <a:pt x="1460577" y="12763"/>
                    <a:pt x="1463376" y="19520"/>
                    <a:pt x="1463376" y="26565"/>
                  </a:cubicBezTo>
                  <a:lnTo>
                    <a:pt x="1463376" y="401216"/>
                  </a:lnTo>
                  <a:cubicBezTo>
                    <a:pt x="1463376" y="408261"/>
                    <a:pt x="1460577" y="415018"/>
                    <a:pt x="1455595" y="420000"/>
                  </a:cubicBezTo>
                  <a:cubicBezTo>
                    <a:pt x="1450613" y="424982"/>
                    <a:pt x="1443856" y="427781"/>
                    <a:pt x="1436810" y="427781"/>
                  </a:cubicBezTo>
                  <a:lnTo>
                    <a:pt x="26565" y="427781"/>
                  </a:lnTo>
                  <a:cubicBezTo>
                    <a:pt x="19520" y="427781"/>
                    <a:pt x="12763" y="424982"/>
                    <a:pt x="7781" y="420000"/>
                  </a:cubicBezTo>
                  <a:cubicBezTo>
                    <a:pt x="2799" y="415018"/>
                    <a:pt x="0" y="408261"/>
                    <a:pt x="0" y="401216"/>
                  </a:cubicBezTo>
                  <a:lnTo>
                    <a:pt x="0" y="26565"/>
                  </a:lnTo>
                  <a:cubicBezTo>
                    <a:pt x="0" y="19520"/>
                    <a:pt x="2799" y="12763"/>
                    <a:pt x="7781" y="7781"/>
                  </a:cubicBezTo>
                  <a:cubicBezTo>
                    <a:pt x="12763" y="2799"/>
                    <a:pt x="19520" y="0"/>
                    <a:pt x="26565" y="0"/>
                  </a:cubicBezTo>
                  <a:close/>
                </a:path>
              </a:pathLst>
            </a:custGeom>
            <a:solidFill>
              <a:srgbClr val="8AB7E2"/>
            </a:solidFill>
          </p:spPr>
        </p:sp>
        <p:sp>
          <p:nvSpPr>
            <p:cNvPr name="TextBox 19" id="19"/>
            <p:cNvSpPr txBox="true"/>
            <p:nvPr/>
          </p:nvSpPr>
          <p:spPr>
            <a:xfrm>
              <a:off x="0" y="85725"/>
              <a:ext cx="1463376" cy="342056"/>
            </a:xfrm>
            <a:prstGeom prst="rect">
              <a:avLst/>
            </a:prstGeom>
          </p:spPr>
          <p:txBody>
            <a:bodyPr anchor="ctr" rtlCol="false" tIns="50800" lIns="50800" bIns="50800" rIns="50800"/>
            <a:lstStyle/>
            <a:p>
              <a:pPr algn="ctr">
                <a:lnSpc>
                  <a:spcPts val="1925"/>
                </a:lnSpc>
              </a:pPr>
            </a:p>
          </p:txBody>
        </p:sp>
      </p:grpSp>
      <p:sp>
        <p:nvSpPr>
          <p:cNvPr name="TextBox 20" id="20"/>
          <p:cNvSpPr txBox="true"/>
          <p:nvPr/>
        </p:nvSpPr>
        <p:spPr>
          <a:xfrm rot="0">
            <a:off x="850489" y="2396319"/>
            <a:ext cx="896543" cy="584835"/>
          </a:xfrm>
          <a:prstGeom prst="rect">
            <a:avLst/>
          </a:prstGeom>
        </p:spPr>
        <p:txBody>
          <a:bodyPr anchor="t" rtlCol="false" tIns="0" lIns="0" bIns="0" rIns="0">
            <a:spAutoFit/>
          </a:bodyPr>
          <a:lstStyle/>
          <a:p>
            <a:pPr algn="l">
              <a:lnSpc>
                <a:spcPts val="4320"/>
              </a:lnSpc>
            </a:pPr>
            <a:r>
              <a:rPr lang="en-US" sz="4500" spc="-369">
                <a:solidFill>
                  <a:srgbClr val="000000"/>
                </a:solidFill>
                <a:latin typeface="DM Sans"/>
                <a:ea typeface="DM Sans"/>
                <a:cs typeface="DM Sans"/>
                <a:sym typeface="DM Sans"/>
              </a:rPr>
              <a:t>01.</a:t>
            </a:r>
          </a:p>
        </p:txBody>
      </p:sp>
      <p:sp>
        <p:nvSpPr>
          <p:cNvPr name="TextBox 21" id="21"/>
          <p:cNvSpPr txBox="true"/>
          <p:nvPr/>
        </p:nvSpPr>
        <p:spPr>
          <a:xfrm rot="0">
            <a:off x="850489" y="4133763"/>
            <a:ext cx="896543" cy="584835"/>
          </a:xfrm>
          <a:prstGeom prst="rect">
            <a:avLst/>
          </a:prstGeom>
        </p:spPr>
        <p:txBody>
          <a:bodyPr anchor="t" rtlCol="false" tIns="0" lIns="0" bIns="0" rIns="0">
            <a:spAutoFit/>
          </a:bodyPr>
          <a:lstStyle/>
          <a:p>
            <a:pPr algn="l">
              <a:lnSpc>
                <a:spcPts val="4320"/>
              </a:lnSpc>
            </a:pPr>
            <a:r>
              <a:rPr lang="en-US" sz="4500" spc="-369">
                <a:solidFill>
                  <a:srgbClr val="000000"/>
                </a:solidFill>
                <a:latin typeface="DM Sans"/>
                <a:ea typeface="DM Sans"/>
                <a:cs typeface="DM Sans"/>
                <a:sym typeface="DM Sans"/>
              </a:rPr>
              <a:t>02.</a:t>
            </a:r>
          </a:p>
        </p:txBody>
      </p:sp>
      <p:sp>
        <p:nvSpPr>
          <p:cNvPr name="TextBox 22" id="22"/>
          <p:cNvSpPr txBox="true"/>
          <p:nvPr/>
        </p:nvSpPr>
        <p:spPr>
          <a:xfrm rot="0">
            <a:off x="850489" y="5634990"/>
            <a:ext cx="896543" cy="584835"/>
          </a:xfrm>
          <a:prstGeom prst="rect">
            <a:avLst/>
          </a:prstGeom>
        </p:spPr>
        <p:txBody>
          <a:bodyPr anchor="t" rtlCol="false" tIns="0" lIns="0" bIns="0" rIns="0">
            <a:spAutoFit/>
          </a:bodyPr>
          <a:lstStyle/>
          <a:p>
            <a:pPr algn="l">
              <a:lnSpc>
                <a:spcPts val="4320"/>
              </a:lnSpc>
            </a:pPr>
            <a:r>
              <a:rPr lang="en-US" sz="4500" spc="-369">
                <a:solidFill>
                  <a:srgbClr val="000000"/>
                </a:solidFill>
                <a:latin typeface="DM Sans"/>
                <a:ea typeface="DM Sans"/>
                <a:cs typeface="DM Sans"/>
                <a:sym typeface="DM Sans"/>
              </a:rPr>
              <a:t>03.</a:t>
            </a:r>
          </a:p>
        </p:txBody>
      </p:sp>
      <p:sp>
        <p:nvSpPr>
          <p:cNvPr name="TextBox 23" id="23"/>
          <p:cNvSpPr txBox="true"/>
          <p:nvPr/>
        </p:nvSpPr>
        <p:spPr>
          <a:xfrm rot="0">
            <a:off x="1747032" y="2229335"/>
            <a:ext cx="3091630" cy="960120"/>
          </a:xfrm>
          <a:prstGeom prst="rect">
            <a:avLst/>
          </a:prstGeom>
        </p:spPr>
        <p:txBody>
          <a:bodyPr anchor="t" rtlCol="false" tIns="0" lIns="0" bIns="0" rIns="0">
            <a:spAutoFit/>
          </a:bodyPr>
          <a:lstStyle/>
          <a:p>
            <a:pPr algn="just">
              <a:lnSpc>
                <a:spcPts val="2159"/>
              </a:lnSpc>
            </a:pPr>
            <a:r>
              <a:rPr lang="en-US" sz="1599" spc="25">
                <a:solidFill>
                  <a:srgbClr val="000000"/>
                </a:solidFill>
                <a:latin typeface="Playfair Display 2"/>
                <a:ea typeface="Playfair Display 2"/>
                <a:cs typeface="Playfair Display 2"/>
                <a:sym typeface="Playfair Display 2"/>
              </a:rPr>
              <a:t>Empower Users</a:t>
            </a:r>
          </a:p>
          <a:p>
            <a:pPr algn="just" marL="0" indent="0" lvl="0">
              <a:lnSpc>
                <a:spcPts val="1379"/>
              </a:lnSpc>
            </a:pPr>
            <a:r>
              <a:rPr lang="en-US" sz="1199" spc="17">
                <a:solidFill>
                  <a:srgbClr val="000000"/>
                </a:solidFill>
                <a:latin typeface="Playfair Display 2"/>
                <a:ea typeface="Playfair Display 2"/>
                <a:cs typeface="Playfair Display 2"/>
                <a:sym typeface="Playfair Display 2"/>
              </a:rPr>
              <a:t>Provide individuals with a user-friendly platform to track, store, and understand their health data, making heath management easy and accessible.</a:t>
            </a:r>
          </a:p>
        </p:txBody>
      </p:sp>
      <p:sp>
        <p:nvSpPr>
          <p:cNvPr name="TextBox 24" id="24"/>
          <p:cNvSpPr txBox="true"/>
          <p:nvPr/>
        </p:nvSpPr>
        <p:spPr>
          <a:xfrm rot="0">
            <a:off x="1747032" y="3885873"/>
            <a:ext cx="3131547" cy="1059180"/>
          </a:xfrm>
          <a:prstGeom prst="rect">
            <a:avLst/>
          </a:prstGeom>
        </p:spPr>
        <p:txBody>
          <a:bodyPr anchor="t" rtlCol="false" tIns="0" lIns="0" bIns="0" rIns="0">
            <a:spAutoFit/>
          </a:bodyPr>
          <a:lstStyle/>
          <a:p>
            <a:pPr algn="just">
              <a:lnSpc>
                <a:spcPts val="2159"/>
              </a:lnSpc>
            </a:pPr>
            <a:r>
              <a:rPr lang="en-US" sz="1599" spc="25">
                <a:solidFill>
                  <a:srgbClr val="000000"/>
                </a:solidFill>
                <a:latin typeface="Playfair Display 2"/>
                <a:ea typeface="Playfair Display 2"/>
                <a:cs typeface="Playfair Display 2"/>
                <a:sym typeface="Playfair Display 2"/>
              </a:rPr>
              <a:t>Promote Affordable Healthcare</a:t>
            </a:r>
          </a:p>
          <a:p>
            <a:pPr algn="just" marL="0" indent="0" lvl="0">
              <a:lnSpc>
                <a:spcPts val="1620"/>
              </a:lnSpc>
              <a:spcBef>
                <a:spcPct val="0"/>
              </a:spcBef>
            </a:pPr>
            <a:r>
              <a:rPr lang="en-US" sz="1200" spc="19">
                <a:solidFill>
                  <a:srgbClr val="000000"/>
                </a:solidFill>
                <a:latin typeface="Playfair Display 2"/>
                <a:ea typeface="Playfair Display 2"/>
                <a:cs typeface="Playfair Display 2"/>
                <a:sym typeface="Playfair Display 2"/>
              </a:rPr>
              <a:t>Partner with NGOs and healthcare providers to offer affordable, high-quality healthcare options tailored to individuals’ needs and financial situations.</a:t>
            </a:r>
          </a:p>
        </p:txBody>
      </p:sp>
      <p:sp>
        <p:nvSpPr>
          <p:cNvPr name="TextBox 25" id="25"/>
          <p:cNvSpPr txBox="true"/>
          <p:nvPr/>
        </p:nvSpPr>
        <p:spPr>
          <a:xfrm rot="0">
            <a:off x="1747032" y="5332587"/>
            <a:ext cx="3091630" cy="1059180"/>
          </a:xfrm>
          <a:prstGeom prst="rect">
            <a:avLst/>
          </a:prstGeom>
        </p:spPr>
        <p:txBody>
          <a:bodyPr anchor="t" rtlCol="false" tIns="0" lIns="0" bIns="0" rIns="0">
            <a:spAutoFit/>
          </a:bodyPr>
          <a:lstStyle/>
          <a:p>
            <a:pPr algn="just">
              <a:lnSpc>
                <a:spcPts val="2159"/>
              </a:lnSpc>
            </a:pPr>
            <a:r>
              <a:rPr lang="en-US" b="true" sz="1599" spc="25">
                <a:solidFill>
                  <a:srgbClr val="000000"/>
                </a:solidFill>
                <a:latin typeface="Playfair Display 2 Medium"/>
                <a:ea typeface="Playfair Display 2 Medium"/>
                <a:cs typeface="Playfair Display 2 Medium"/>
                <a:sym typeface="Playfair Display 2 Medium"/>
              </a:rPr>
              <a:t>Enhance Accessibility</a:t>
            </a:r>
          </a:p>
          <a:p>
            <a:pPr algn="just" marL="0" indent="0" lvl="0">
              <a:lnSpc>
                <a:spcPts val="1620"/>
              </a:lnSpc>
              <a:spcBef>
                <a:spcPct val="0"/>
              </a:spcBef>
            </a:pPr>
            <a:r>
              <a:rPr lang="en-US" b="true" sz="1200" spc="19">
                <a:solidFill>
                  <a:srgbClr val="000000"/>
                </a:solidFill>
                <a:latin typeface="Playfair Display 2 Medium"/>
                <a:ea typeface="Playfair Display 2 Medium"/>
                <a:cs typeface="Playfair Display 2 Medium"/>
                <a:sym typeface="Playfair Display 2 Medium"/>
              </a:rPr>
              <a:t>Ensure that people in rural and low-income areas have access to critical health resources, enabling better health outcomes for all.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71247"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1 Bold"/>
                <a:ea typeface="Playfair Display 1 Bold"/>
                <a:cs typeface="Playfair Display 1 Bold"/>
                <a:sym typeface="Playfair Display 1 Bold"/>
              </a:rPr>
              <a:t>USER-INTERFACE(UI) OF MEDI-FIT</a:t>
            </a:r>
          </a:p>
        </p:txBody>
      </p:sp>
      <p:sp>
        <p:nvSpPr>
          <p:cNvPr name="AutoShape 3" id="3"/>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sp>
        <p:nvSpPr>
          <p:cNvPr name="Freeform 4" id="4"/>
          <p:cNvSpPr/>
          <p:nvPr/>
        </p:nvSpPr>
        <p:spPr>
          <a:xfrm flipH="false" flipV="false" rot="-9742316">
            <a:off x="10032797" y="-200656"/>
            <a:ext cx="3432859" cy="2149828"/>
          </a:xfrm>
          <a:custGeom>
            <a:avLst/>
            <a:gdLst/>
            <a:ahLst/>
            <a:cxnLst/>
            <a:rect r="r" b="b" t="t" l="l"/>
            <a:pathLst>
              <a:path h="2149828" w="3432859">
                <a:moveTo>
                  <a:pt x="0" y="0"/>
                </a:moveTo>
                <a:lnTo>
                  <a:pt x="3432860" y="0"/>
                </a:lnTo>
                <a:lnTo>
                  <a:pt x="3432860" y="2149828"/>
                </a:lnTo>
                <a:lnTo>
                  <a:pt x="0" y="2149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514971" y="1526574"/>
            <a:ext cx="2026656" cy="4112226"/>
          </a:xfrm>
          <a:custGeom>
            <a:avLst/>
            <a:gdLst/>
            <a:ahLst/>
            <a:cxnLst/>
            <a:rect r="r" b="b" t="t" l="l"/>
            <a:pathLst>
              <a:path h="4112226" w="2026656">
                <a:moveTo>
                  <a:pt x="0" y="0"/>
                </a:moveTo>
                <a:lnTo>
                  <a:pt x="2026655" y="0"/>
                </a:lnTo>
                <a:lnTo>
                  <a:pt x="2026655" y="4112226"/>
                </a:lnTo>
                <a:lnTo>
                  <a:pt x="0" y="4112226"/>
                </a:lnTo>
                <a:lnTo>
                  <a:pt x="0" y="0"/>
                </a:lnTo>
                <a:close/>
              </a:path>
            </a:pathLst>
          </a:custGeom>
          <a:blipFill>
            <a:blip r:embed="rId4"/>
            <a:stretch>
              <a:fillRect l="0" t="0" r="0" b="0"/>
            </a:stretch>
          </a:blipFill>
        </p:spPr>
      </p:sp>
      <p:sp>
        <p:nvSpPr>
          <p:cNvPr name="Freeform 6" id="6"/>
          <p:cNvSpPr/>
          <p:nvPr/>
        </p:nvSpPr>
        <p:spPr>
          <a:xfrm flipH="false" flipV="false" rot="0">
            <a:off x="3290982" y="1529152"/>
            <a:ext cx="2019396" cy="4109648"/>
          </a:xfrm>
          <a:custGeom>
            <a:avLst/>
            <a:gdLst/>
            <a:ahLst/>
            <a:cxnLst/>
            <a:rect r="r" b="b" t="t" l="l"/>
            <a:pathLst>
              <a:path h="4109648" w="2019396">
                <a:moveTo>
                  <a:pt x="0" y="0"/>
                </a:moveTo>
                <a:lnTo>
                  <a:pt x="2019396" y="0"/>
                </a:lnTo>
                <a:lnTo>
                  <a:pt x="2019396" y="4109648"/>
                </a:lnTo>
                <a:lnTo>
                  <a:pt x="0" y="4109648"/>
                </a:lnTo>
                <a:lnTo>
                  <a:pt x="0" y="0"/>
                </a:lnTo>
                <a:close/>
              </a:path>
            </a:pathLst>
          </a:custGeom>
          <a:blipFill>
            <a:blip r:embed="rId5"/>
            <a:stretch>
              <a:fillRect l="0" t="0" r="0" b="0"/>
            </a:stretch>
          </a:blipFill>
        </p:spPr>
      </p:sp>
      <p:sp>
        <p:nvSpPr>
          <p:cNvPr name="Freeform 7" id="7"/>
          <p:cNvSpPr/>
          <p:nvPr/>
        </p:nvSpPr>
        <p:spPr>
          <a:xfrm flipH="false" flipV="false" rot="0">
            <a:off x="6289197" y="1526574"/>
            <a:ext cx="2019396" cy="4109648"/>
          </a:xfrm>
          <a:custGeom>
            <a:avLst/>
            <a:gdLst/>
            <a:ahLst/>
            <a:cxnLst/>
            <a:rect r="r" b="b" t="t" l="l"/>
            <a:pathLst>
              <a:path h="4109648" w="2019396">
                <a:moveTo>
                  <a:pt x="0" y="0"/>
                </a:moveTo>
                <a:lnTo>
                  <a:pt x="2019395" y="0"/>
                </a:lnTo>
                <a:lnTo>
                  <a:pt x="2019395" y="4109648"/>
                </a:lnTo>
                <a:lnTo>
                  <a:pt x="0" y="4109648"/>
                </a:lnTo>
                <a:lnTo>
                  <a:pt x="0" y="0"/>
                </a:lnTo>
                <a:close/>
              </a:path>
            </a:pathLst>
          </a:custGeom>
          <a:blipFill>
            <a:blip r:embed="rId6"/>
            <a:stretch>
              <a:fillRect l="0" t="0" r="0" b="0"/>
            </a:stretch>
          </a:blipFill>
        </p:spPr>
      </p:sp>
      <p:sp>
        <p:nvSpPr>
          <p:cNvPr name="Freeform 8" id="8"/>
          <p:cNvSpPr/>
          <p:nvPr/>
        </p:nvSpPr>
        <p:spPr>
          <a:xfrm flipH="false" flipV="false" rot="0">
            <a:off x="5085618" y="3239845"/>
            <a:ext cx="2020764" cy="4112226"/>
          </a:xfrm>
          <a:custGeom>
            <a:avLst/>
            <a:gdLst/>
            <a:ahLst/>
            <a:cxnLst/>
            <a:rect r="r" b="b" t="t" l="l"/>
            <a:pathLst>
              <a:path h="4112226" w="2020764">
                <a:moveTo>
                  <a:pt x="0" y="0"/>
                </a:moveTo>
                <a:lnTo>
                  <a:pt x="2020764" y="0"/>
                </a:lnTo>
                <a:lnTo>
                  <a:pt x="2020764" y="4112226"/>
                </a:lnTo>
                <a:lnTo>
                  <a:pt x="0" y="4112226"/>
                </a:lnTo>
                <a:lnTo>
                  <a:pt x="0" y="0"/>
                </a:lnTo>
                <a:close/>
              </a:path>
            </a:pathLst>
          </a:custGeom>
          <a:blipFill>
            <a:blip r:embed="rId7"/>
            <a:stretch>
              <a:fillRect l="0" t="0" r="0" b="0"/>
            </a:stretch>
          </a:blipFill>
        </p:spPr>
      </p:sp>
      <p:sp>
        <p:nvSpPr>
          <p:cNvPr name="Freeform 9" id="9"/>
          <p:cNvSpPr/>
          <p:nvPr/>
        </p:nvSpPr>
        <p:spPr>
          <a:xfrm flipH="false" flipV="false" rot="0">
            <a:off x="1867885" y="3880114"/>
            <a:ext cx="2023029" cy="4110937"/>
          </a:xfrm>
          <a:custGeom>
            <a:avLst/>
            <a:gdLst/>
            <a:ahLst/>
            <a:cxnLst/>
            <a:rect r="r" b="b" t="t" l="l"/>
            <a:pathLst>
              <a:path h="4110937" w="2023029">
                <a:moveTo>
                  <a:pt x="0" y="0"/>
                </a:moveTo>
                <a:lnTo>
                  <a:pt x="2023029" y="0"/>
                </a:lnTo>
                <a:lnTo>
                  <a:pt x="2023029" y="4110938"/>
                </a:lnTo>
                <a:lnTo>
                  <a:pt x="0" y="4110938"/>
                </a:lnTo>
                <a:lnTo>
                  <a:pt x="0" y="0"/>
                </a:lnTo>
                <a:close/>
              </a:path>
            </a:pathLst>
          </a:custGeom>
          <a:blipFill>
            <a:blip r:embed="rId8"/>
            <a:stretch>
              <a:fillRect l="0" t="0" r="0" b="0"/>
            </a:stretch>
          </a:blipFill>
        </p:spPr>
      </p:sp>
      <p:sp>
        <p:nvSpPr>
          <p:cNvPr name="Freeform 10" id="10"/>
          <p:cNvSpPr/>
          <p:nvPr/>
        </p:nvSpPr>
        <p:spPr>
          <a:xfrm flipH="false" flipV="false" rot="0">
            <a:off x="9732096" y="1526574"/>
            <a:ext cx="2017131" cy="4110937"/>
          </a:xfrm>
          <a:custGeom>
            <a:avLst/>
            <a:gdLst/>
            <a:ahLst/>
            <a:cxnLst/>
            <a:rect r="r" b="b" t="t" l="l"/>
            <a:pathLst>
              <a:path h="4110937" w="2017131">
                <a:moveTo>
                  <a:pt x="0" y="0"/>
                </a:moveTo>
                <a:lnTo>
                  <a:pt x="2017131" y="0"/>
                </a:lnTo>
                <a:lnTo>
                  <a:pt x="2017131" y="4110937"/>
                </a:lnTo>
                <a:lnTo>
                  <a:pt x="0" y="4110937"/>
                </a:lnTo>
                <a:lnTo>
                  <a:pt x="0" y="0"/>
                </a:lnTo>
                <a:close/>
              </a:path>
            </a:pathLst>
          </a:custGeom>
          <a:blipFill>
            <a:blip r:embed="rId9"/>
            <a:stretch>
              <a:fillRect l="0" t="0" r="0" b="0"/>
            </a:stretch>
          </a:blipFill>
        </p:spPr>
      </p:sp>
      <p:sp>
        <p:nvSpPr>
          <p:cNvPr name="Freeform 11" id="11"/>
          <p:cNvSpPr/>
          <p:nvPr/>
        </p:nvSpPr>
        <p:spPr>
          <a:xfrm flipH="false" flipV="false" rot="0">
            <a:off x="7858857" y="2747063"/>
            <a:ext cx="2023029" cy="4110937"/>
          </a:xfrm>
          <a:custGeom>
            <a:avLst/>
            <a:gdLst/>
            <a:ahLst/>
            <a:cxnLst/>
            <a:rect r="r" b="b" t="t" l="l"/>
            <a:pathLst>
              <a:path h="4110937" w="2023029">
                <a:moveTo>
                  <a:pt x="0" y="0"/>
                </a:moveTo>
                <a:lnTo>
                  <a:pt x="2023030" y="0"/>
                </a:lnTo>
                <a:lnTo>
                  <a:pt x="2023030" y="4110937"/>
                </a:lnTo>
                <a:lnTo>
                  <a:pt x="0" y="4110937"/>
                </a:lnTo>
                <a:lnTo>
                  <a:pt x="0" y="0"/>
                </a:lnTo>
                <a:close/>
              </a:path>
            </a:pathLst>
          </a:custGeom>
          <a:blipFill>
            <a:blip r:embed="rId10"/>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grpSp>
        <p:nvGrpSpPr>
          <p:cNvPr name="Group 3" id="3"/>
          <p:cNvGrpSpPr/>
          <p:nvPr/>
        </p:nvGrpSpPr>
        <p:grpSpPr>
          <a:xfrm rot="0">
            <a:off x="685800" y="1541860"/>
            <a:ext cx="3430930" cy="2428663"/>
            <a:chOff x="0" y="0"/>
            <a:chExt cx="4574573" cy="3238218"/>
          </a:xfrm>
        </p:grpSpPr>
        <p:sp>
          <p:nvSpPr>
            <p:cNvPr name="TextBox 4" id="4"/>
            <p:cNvSpPr txBox="true"/>
            <p:nvPr/>
          </p:nvSpPr>
          <p:spPr>
            <a:xfrm rot="0">
              <a:off x="0" y="-38100"/>
              <a:ext cx="4574573" cy="8384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1. Target Audience Identification</a:t>
              </a:r>
            </a:p>
          </p:txBody>
        </p:sp>
        <p:sp>
          <p:nvSpPr>
            <p:cNvPr name="TextBox 5" id="5"/>
            <p:cNvSpPr txBox="true"/>
            <p:nvPr/>
          </p:nvSpPr>
          <p:spPr>
            <a:xfrm rot="0">
              <a:off x="0" y="925266"/>
              <a:ext cx="4574573" cy="23129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Demographics: Primarily low-income individuals, rural populations, and elderly people.</a:t>
              </a:r>
            </a:p>
            <a:p>
              <a:pPr algn="just">
                <a:lnSpc>
                  <a:spcPts val="1773"/>
                </a:lnSpc>
              </a:pPr>
              <a:r>
                <a:rPr lang="en-US" sz="1266">
                  <a:solidFill>
                    <a:srgbClr val="2B2C30"/>
                  </a:solidFill>
                  <a:latin typeface="Playfair Display 1"/>
                  <a:ea typeface="Playfair Display 1"/>
                  <a:cs typeface="Playfair Display 1"/>
                  <a:sym typeface="Playfair Display 1"/>
                </a:rPr>
                <a:t> - Psychographics: People who are seeking affordable healthcare solutions, value health data management, and are inclined towards technology.</a:t>
              </a:r>
            </a:p>
            <a:p>
              <a:pPr algn="just">
                <a:lnSpc>
                  <a:spcPts val="1773"/>
                </a:lnSpc>
              </a:pPr>
            </a:p>
          </p:txBody>
        </p:sp>
      </p:grpSp>
      <p:grpSp>
        <p:nvGrpSpPr>
          <p:cNvPr name="Group 6" id="6"/>
          <p:cNvGrpSpPr/>
          <p:nvPr/>
        </p:nvGrpSpPr>
        <p:grpSpPr>
          <a:xfrm rot="0">
            <a:off x="4333663" y="1541860"/>
            <a:ext cx="3267500" cy="1885738"/>
            <a:chOff x="0" y="0"/>
            <a:chExt cx="4356666" cy="2514318"/>
          </a:xfrm>
        </p:grpSpPr>
        <p:sp>
          <p:nvSpPr>
            <p:cNvPr name="TextBox 7" id="7"/>
            <p:cNvSpPr txBox="true"/>
            <p:nvPr/>
          </p:nvSpPr>
          <p:spPr>
            <a:xfrm rot="0">
              <a:off x="0" y="-38100"/>
              <a:ext cx="4356666"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2 Bold"/>
                  <a:ea typeface="Playfair Display 2 Bold"/>
                  <a:cs typeface="Playfair Display 2 Bold"/>
                  <a:sym typeface="Playfair Display 2 Bold"/>
                </a:rPr>
                <a:t>2. Value Proposition</a:t>
              </a:r>
            </a:p>
          </p:txBody>
        </p:sp>
        <p:sp>
          <p:nvSpPr>
            <p:cNvPr name="TextBox 8" id="8"/>
            <p:cNvSpPr txBox="true"/>
            <p:nvPr/>
          </p:nvSpPr>
          <p:spPr>
            <a:xfrm rot="0">
              <a:off x="0" y="493466"/>
              <a:ext cx="4356666" cy="20208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Accessibility to affordable healthcare solutions.</a:t>
              </a:r>
            </a:p>
            <a:p>
              <a:pPr algn="just">
                <a:lnSpc>
                  <a:spcPts val="1773"/>
                </a:lnSpc>
              </a:pPr>
              <a:r>
                <a:rPr lang="en-US" sz="1266">
                  <a:solidFill>
                    <a:srgbClr val="2B2C30"/>
                  </a:solidFill>
                  <a:latin typeface="Playfair Display 1"/>
                  <a:ea typeface="Playfair Display 1"/>
                  <a:cs typeface="Playfair Display 1"/>
                  <a:sym typeface="Playfair Display 1"/>
                </a:rPr>
                <a:t> - Simplified health data management and personalized lifestyle assessments.</a:t>
              </a:r>
            </a:p>
            <a:p>
              <a:pPr algn="just">
                <a:lnSpc>
                  <a:spcPts val="1773"/>
                </a:lnSpc>
              </a:pPr>
              <a:r>
                <a:rPr lang="en-US" sz="1266">
                  <a:solidFill>
                    <a:srgbClr val="2B2C30"/>
                  </a:solidFill>
                  <a:latin typeface="Playfair Display 1"/>
                  <a:ea typeface="Playfair Display 1"/>
                  <a:cs typeface="Playfair Display 1"/>
                  <a:sym typeface="Playfair Display 1"/>
                </a:rPr>
                <a:t> - Bridging the healthcare gap through partnerships with NGOs and hospitals.</a:t>
              </a:r>
            </a:p>
            <a:p>
              <a:pPr algn="just">
                <a:lnSpc>
                  <a:spcPts val="1773"/>
                </a:lnSpc>
              </a:pPr>
            </a:p>
          </p:txBody>
        </p:sp>
      </p:grpSp>
      <p:grpSp>
        <p:nvGrpSpPr>
          <p:cNvPr name="Group 9" id="9"/>
          <p:cNvGrpSpPr/>
          <p:nvPr/>
        </p:nvGrpSpPr>
        <p:grpSpPr>
          <a:xfrm rot="0">
            <a:off x="7818095" y="1541860"/>
            <a:ext cx="3688105" cy="4952788"/>
            <a:chOff x="0" y="0"/>
            <a:chExt cx="4917473" cy="6603718"/>
          </a:xfrm>
        </p:grpSpPr>
        <p:sp>
          <p:nvSpPr>
            <p:cNvPr name="TextBox 10" id="10"/>
            <p:cNvSpPr txBox="true"/>
            <p:nvPr/>
          </p:nvSpPr>
          <p:spPr>
            <a:xfrm rot="0">
              <a:off x="0" y="-38100"/>
              <a:ext cx="4917473"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2 Bold"/>
                  <a:ea typeface="Playfair Display 2 Bold"/>
                  <a:cs typeface="Playfair Display 2 Bold"/>
                  <a:sym typeface="Playfair Display 2 Bold"/>
                </a:rPr>
                <a:t>3. Channels of Marketing</a:t>
              </a:r>
            </a:p>
          </p:txBody>
        </p:sp>
        <p:sp>
          <p:nvSpPr>
            <p:cNvPr name="TextBox 11" id="11"/>
            <p:cNvSpPr txBox="true"/>
            <p:nvPr/>
          </p:nvSpPr>
          <p:spPr>
            <a:xfrm rot="0">
              <a:off x="0" y="493466"/>
              <a:ext cx="4917473" cy="6110252"/>
            </a:xfrm>
            <a:prstGeom prst="rect">
              <a:avLst/>
            </a:prstGeom>
          </p:spPr>
          <p:txBody>
            <a:bodyPr anchor="t" rtlCol="false" tIns="0" lIns="0" bIns="0" rIns="0">
              <a:spAutoFit/>
            </a:bodyPr>
            <a:lstStyle/>
            <a:p>
              <a:pPr algn="just">
                <a:lnSpc>
                  <a:spcPts val="1773"/>
                </a:lnSpc>
              </a:pPr>
              <a:r>
                <a:rPr lang="en-US" sz="1266" b="true">
                  <a:solidFill>
                    <a:srgbClr val="2B2C30"/>
                  </a:solidFill>
                  <a:latin typeface="Playfair Display 1 Bold"/>
                  <a:ea typeface="Playfair Display 1 Bold"/>
                  <a:cs typeface="Playfair Display 1 Bold"/>
                  <a:sym typeface="Playfair Display 1 Bold"/>
                </a:rPr>
                <a:t>- Digital Marketing:</a:t>
              </a:r>
            </a:p>
            <a:p>
              <a:pPr algn="just">
                <a:lnSpc>
                  <a:spcPts val="1773"/>
                </a:lnSpc>
              </a:pPr>
              <a:r>
                <a:rPr lang="en-US" sz="1266">
                  <a:solidFill>
                    <a:srgbClr val="2B2C30"/>
                  </a:solidFill>
                  <a:latin typeface="Playfair Display 1"/>
                  <a:ea typeface="Playfair Display 1"/>
                  <a:cs typeface="Playfair Display 1"/>
                  <a:sym typeface="Playfair Display 1"/>
                </a:rPr>
                <a:t>- Social Media Campaigns: Use platforms like Facebook, Instagram, and Twitter to share success stories, health tips, and app features.</a:t>
              </a:r>
            </a:p>
            <a:p>
              <a:pPr algn="just">
                <a:lnSpc>
                  <a:spcPts val="1773"/>
                </a:lnSpc>
              </a:pPr>
              <a:r>
                <a:rPr lang="en-US" sz="1266">
                  <a:solidFill>
                    <a:srgbClr val="2B2C30"/>
                  </a:solidFill>
                  <a:latin typeface="Playfair Display 1"/>
                  <a:ea typeface="Playfair Display 1"/>
                  <a:cs typeface="Playfair Display 1"/>
                  <a:sym typeface="Playfair Display 1"/>
                </a:rPr>
                <a:t>- SEO and Content Marketing: Create a blog with health-related articles to drive organic traffic.</a:t>
              </a:r>
            </a:p>
            <a:p>
              <a:pPr algn="just">
                <a:lnSpc>
                  <a:spcPts val="1773"/>
                </a:lnSpc>
              </a:pPr>
              <a:r>
                <a:rPr lang="en-US" sz="1266">
                  <a:solidFill>
                    <a:srgbClr val="2B2C30"/>
                  </a:solidFill>
                  <a:latin typeface="Playfair Display 1"/>
                  <a:ea typeface="Playfair Display 1"/>
                  <a:cs typeface="Playfair Display 1"/>
                  <a:sym typeface="Playfair Display 1"/>
                </a:rPr>
                <a:t>- Influencer Partnerships: Collaborate with healthcare influencers and bloggers to reach a broader audience.</a:t>
              </a:r>
            </a:p>
            <a:p>
              <a:pPr algn="just">
                <a:lnSpc>
                  <a:spcPts val="1773"/>
                </a:lnSpc>
              </a:pPr>
              <a:r>
                <a:rPr lang="en-US" sz="1266">
                  <a:solidFill>
                    <a:srgbClr val="2B2C30"/>
                  </a:solidFill>
                  <a:latin typeface="Playfair Display 1"/>
                  <a:ea typeface="Playfair Display 1"/>
                  <a:cs typeface="Playfair Display 1"/>
                  <a:sym typeface="Playfair Display 1"/>
                </a:rPr>
                <a:t>- Community Engagement:</a:t>
              </a:r>
            </a:p>
            <a:p>
              <a:pPr algn="just">
                <a:lnSpc>
                  <a:spcPts val="1773"/>
                </a:lnSpc>
              </a:pPr>
              <a:r>
                <a:rPr lang="en-US" sz="1266">
                  <a:solidFill>
                    <a:srgbClr val="2B2C30"/>
                  </a:solidFill>
                  <a:latin typeface="Playfair Display 1"/>
                  <a:ea typeface="Playfair Display 1"/>
                  <a:cs typeface="Playfair Display 1"/>
                  <a:sym typeface="Playfair Display 1"/>
                </a:rPr>
                <a:t>- NGO Partnerships: Work with NGOs to promote MediFit within communities.</a:t>
              </a:r>
            </a:p>
            <a:p>
              <a:pPr algn="just">
                <a:lnSpc>
                  <a:spcPts val="1773"/>
                </a:lnSpc>
              </a:pPr>
              <a:r>
                <a:rPr lang="en-US" sz="1266">
                  <a:solidFill>
                    <a:srgbClr val="2B2C30"/>
                  </a:solidFill>
                  <a:latin typeface="Playfair Display 1"/>
                  <a:ea typeface="Playfair Display 1"/>
                  <a:cs typeface="Playfair Display 1"/>
                  <a:sym typeface="Playfair Display 1"/>
                </a:rPr>
                <a:t>- Health Camps and Workshops: Organize free health camps and workshops in rural areas to demonstrate the app’s benefits.</a:t>
              </a:r>
            </a:p>
            <a:p>
              <a:pPr algn="just">
                <a:lnSpc>
                  <a:spcPts val="1773"/>
                </a:lnSpc>
              </a:pPr>
              <a:r>
                <a:rPr lang="en-US" sz="1266" b="true">
                  <a:solidFill>
                    <a:srgbClr val="2B2C30"/>
                  </a:solidFill>
                  <a:latin typeface="Playfair Display 1 Bold"/>
                  <a:ea typeface="Playfair Display 1 Bold"/>
                  <a:cs typeface="Playfair Display 1 Bold"/>
                  <a:sym typeface="Playfair Display 1 Bold"/>
                </a:rPr>
                <a:t>- Traditional Marketing:</a:t>
              </a:r>
            </a:p>
            <a:p>
              <a:pPr algn="just">
                <a:lnSpc>
                  <a:spcPts val="1773"/>
                </a:lnSpc>
              </a:pPr>
              <a:r>
                <a:rPr lang="en-US" sz="1266">
                  <a:solidFill>
                    <a:srgbClr val="2B2C30"/>
                  </a:solidFill>
                  <a:latin typeface="Playfair Display 1"/>
                  <a:ea typeface="Playfair Display 1"/>
                  <a:cs typeface="Playfair Display 1"/>
                  <a:sym typeface="Playfair Display 1"/>
                </a:rPr>
                <a:t>- Print Media: Advertise in local newspapers and health magazines.</a:t>
              </a:r>
            </a:p>
            <a:p>
              <a:pPr algn="just">
                <a:lnSpc>
                  <a:spcPts val="1773"/>
                </a:lnSpc>
              </a:pPr>
              <a:r>
                <a:rPr lang="en-US" sz="1266">
                  <a:solidFill>
                    <a:srgbClr val="2B2C30"/>
                  </a:solidFill>
                  <a:latin typeface="Playfair Display 1"/>
                  <a:ea typeface="Playfair Display 1"/>
                  <a:cs typeface="Playfair Display 1"/>
                  <a:sym typeface="Playfair Display 1"/>
                </a:rPr>
                <a:t>- Radio and Television: Use local radio and TV channels to reach a wider audience.</a:t>
              </a:r>
            </a:p>
            <a:p>
              <a:pPr algn="just">
                <a:lnSpc>
                  <a:spcPts val="1773"/>
                </a:lnSpc>
              </a:pPr>
            </a:p>
          </p:txBody>
        </p:sp>
      </p:grpSp>
      <p:sp>
        <p:nvSpPr>
          <p:cNvPr name="TextBox 12" id="12"/>
          <p:cNvSpPr txBox="true"/>
          <p:nvPr/>
        </p:nvSpPr>
        <p:spPr>
          <a:xfrm rot="0">
            <a:off x="667796"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1 Bold"/>
                <a:ea typeface="Playfair Display 1 Bold"/>
                <a:cs typeface="Playfair Display 1 Bold"/>
                <a:sym typeface="Playfair Display 1 Bold"/>
              </a:rPr>
              <a:t>OVERVIEW OF MARKETING STRATERGY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5198784" y="1438057"/>
            <a:ext cx="5933394" cy="3644799"/>
          </a:xfrm>
          <a:custGeom>
            <a:avLst/>
            <a:gdLst/>
            <a:ahLst/>
            <a:cxnLst/>
            <a:rect r="r" b="b" t="t" l="l"/>
            <a:pathLst>
              <a:path h="3644799" w="5933394">
                <a:moveTo>
                  <a:pt x="0" y="0"/>
                </a:moveTo>
                <a:lnTo>
                  <a:pt x="5933394" y="0"/>
                </a:lnTo>
                <a:lnTo>
                  <a:pt x="5933394" y="3644799"/>
                </a:lnTo>
                <a:lnTo>
                  <a:pt x="0" y="3644799"/>
                </a:lnTo>
                <a:lnTo>
                  <a:pt x="0" y="0"/>
                </a:lnTo>
                <a:close/>
              </a:path>
            </a:pathLst>
          </a:custGeom>
          <a:blipFill>
            <a:blip r:embed="rId2"/>
            <a:stretch>
              <a:fillRect l="0" t="0" r="0" b="0"/>
            </a:stretch>
          </a:blipFill>
        </p:spPr>
      </p:sp>
      <p:grpSp>
        <p:nvGrpSpPr>
          <p:cNvPr name="Group 4" id="4"/>
          <p:cNvGrpSpPr/>
          <p:nvPr/>
        </p:nvGrpSpPr>
        <p:grpSpPr>
          <a:xfrm rot="0">
            <a:off x="667796" y="1536912"/>
            <a:ext cx="3430930" cy="1885738"/>
            <a:chOff x="0" y="0"/>
            <a:chExt cx="4574573" cy="2514318"/>
          </a:xfrm>
        </p:grpSpPr>
        <p:sp>
          <p:nvSpPr>
            <p:cNvPr name="TextBox 5" id="5"/>
            <p:cNvSpPr txBox="true"/>
            <p:nvPr/>
          </p:nvSpPr>
          <p:spPr>
            <a:xfrm rot="0">
              <a:off x="0" y="-38100"/>
              <a:ext cx="4574573"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1. Partnerships</a:t>
              </a:r>
            </a:p>
          </p:txBody>
        </p:sp>
        <p:sp>
          <p:nvSpPr>
            <p:cNvPr name="TextBox 6" id="6"/>
            <p:cNvSpPr txBox="true"/>
            <p:nvPr/>
          </p:nvSpPr>
          <p:spPr>
            <a:xfrm rot="0">
              <a:off x="0" y="493466"/>
              <a:ext cx="4574573" cy="20208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 NGOs and Hospitals: Partner with NGOs and hospitals to offer MediFit as part of their health services.</a:t>
              </a:r>
            </a:p>
            <a:p>
              <a:pPr algn="just">
                <a:lnSpc>
                  <a:spcPts val="1773"/>
                </a:lnSpc>
              </a:pPr>
              <a:r>
                <a:rPr lang="en-US" sz="1266">
                  <a:solidFill>
                    <a:srgbClr val="2B2C30"/>
                  </a:solidFill>
                  <a:latin typeface="Playfair Display 1"/>
                  <a:ea typeface="Playfair Display 1"/>
                  <a:cs typeface="Playfair Display 1"/>
                  <a:sym typeface="Playfair Display 1"/>
                </a:rPr>
                <a:t> - Corporates: Collaborate with companies to offer MediFit as a health benefit to their employees.</a:t>
              </a:r>
            </a:p>
            <a:p>
              <a:pPr algn="just">
                <a:lnSpc>
                  <a:spcPts val="1773"/>
                </a:lnSpc>
              </a:pPr>
            </a:p>
          </p:txBody>
        </p:sp>
      </p:grpSp>
      <p:grpSp>
        <p:nvGrpSpPr>
          <p:cNvPr name="Group 7" id="7"/>
          <p:cNvGrpSpPr/>
          <p:nvPr/>
        </p:nvGrpSpPr>
        <p:grpSpPr>
          <a:xfrm rot="0">
            <a:off x="667796" y="3260456"/>
            <a:ext cx="3363681" cy="2063558"/>
            <a:chOff x="0" y="0"/>
            <a:chExt cx="4484908" cy="2751410"/>
          </a:xfrm>
        </p:grpSpPr>
        <p:sp>
          <p:nvSpPr>
            <p:cNvPr name="TextBox 8" id="8"/>
            <p:cNvSpPr txBox="true"/>
            <p:nvPr/>
          </p:nvSpPr>
          <p:spPr>
            <a:xfrm rot="0">
              <a:off x="0" y="-38100"/>
              <a:ext cx="4484908" cy="399458"/>
            </a:xfrm>
            <a:prstGeom prst="rect">
              <a:avLst/>
            </a:prstGeom>
          </p:spPr>
          <p:txBody>
            <a:bodyPr anchor="t" rtlCol="false" tIns="0" lIns="0" bIns="0" rIns="0">
              <a:spAutoFit/>
            </a:bodyPr>
            <a:lstStyle/>
            <a:p>
              <a:pPr algn="l">
                <a:lnSpc>
                  <a:spcPts val="2562"/>
                </a:lnSpc>
              </a:pPr>
              <a:r>
                <a:rPr lang="en-US" sz="1830" b="true">
                  <a:solidFill>
                    <a:srgbClr val="2B2C30"/>
                  </a:solidFill>
                  <a:latin typeface="Playfair Display 1 Bold"/>
                  <a:ea typeface="Playfair Display 1 Bold"/>
                  <a:cs typeface="Playfair Display 1 Bold"/>
                  <a:sym typeface="Playfair Display 1 Bold"/>
                </a:rPr>
                <a:t>2. Freemium Model</a:t>
              </a:r>
            </a:p>
          </p:txBody>
        </p:sp>
        <p:sp>
          <p:nvSpPr>
            <p:cNvPr name="TextBox 9" id="9"/>
            <p:cNvSpPr txBox="true"/>
            <p:nvPr/>
          </p:nvSpPr>
          <p:spPr>
            <a:xfrm rot="0">
              <a:off x="0" y="483420"/>
              <a:ext cx="4484908" cy="2267990"/>
            </a:xfrm>
            <a:prstGeom prst="rect">
              <a:avLst/>
            </a:prstGeom>
          </p:spPr>
          <p:txBody>
            <a:bodyPr anchor="t" rtlCol="false" tIns="0" lIns="0" bIns="0" rIns="0">
              <a:spAutoFit/>
            </a:bodyPr>
            <a:lstStyle/>
            <a:p>
              <a:pPr algn="just">
                <a:lnSpc>
                  <a:spcPts val="1738"/>
                </a:lnSpc>
              </a:pPr>
              <a:r>
                <a:rPr lang="en-US" sz="1241">
                  <a:solidFill>
                    <a:srgbClr val="2B2C30"/>
                  </a:solidFill>
                  <a:latin typeface="Playfair Display 1"/>
                  <a:ea typeface="Playfair Display 1"/>
                  <a:cs typeface="Playfair Display 1"/>
                  <a:sym typeface="Playfair Display 1"/>
                </a:rPr>
                <a:t>- Offer basic features of MediFit for free to attract users.</a:t>
              </a:r>
            </a:p>
            <a:p>
              <a:pPr algn="just">
                <a:lnSpc>
                  <a:spcPts val="1738"/>
                </a:lnSpc>
              </a:pPr>
              <a:r>
                <a:rPr lang="en-US" sz="1241">
                  <a:solidFill>
                    <a:srgbClr val="2B2C30"/>
                  </a:solidFill>
                  <a:latin typeface="Playfair Display 1"/>
                  <a:ea typeface="Playfair Display 1"/>
                  <a:cs typeface="Playfair Display 1"/>
                  <a:sym typeface="Playfair Display 1"/>
                </a:rPr>
                <a:t>- This app offers a freemium model to support individuals who cannot afford the membership. By submitting relevant documents, eligible users can access the app for free, ensuring it remains accessible to everyone.</a:t>
              </a:r>
            </a:p>
            <a:p>
              <a:pPr algn="just">
                <a:lnSpc>
                  <a:spcPts val="1738"/>
                </a:lnSpc>
              </a:pPr>
            </a:p>
          </p:txBody>
        </p:sp>
      </p:grpSp>
      <p:grpSp>
        <p:nvGrpSpPr>
          <p:cNvPr name="Group 10" id="10"/>
          <p:cNvGrpSpPr/>
          <p:nvPr/>
        </p:nvGrpSpPr>
        <p:grpSpPr>
          <a:xfrm rot="0">
            <a:off x="685800" y="5324014"/>
            <a:ext cx="3688105" cy="1228513"/>
            <a:chOff x="0" y="0"/>
            <a:chExt cx="4917473" cy="1638018"/>
          </a:xfrm>
        </p:grpSpPr>
        <p:sp>
          <p:nvSpPr>
            <p:cNvPr name="TextBox 11" id="11"/>
            <p:cNvSpPr txBox="true"/>
            <p:nvPr/>
          </p:nvSpPr>
          <p:spPr>
            <a:xfrm rot="0">
              <a:off x="0" y="-38100"/>
              <a:ext cx="4917473"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3. Referral Programs</a:t>
              </a:r>
            </a:p>
          </p:txBody>
        </p:sp>
        <p:sp>
          <p:nvSpPr>
            <p:cNvPr name="TextBox 12" id="12"/>
            <p:cNvSpPr txBox="true"/>
            <p:nvPr/>
          </p:nvSpPr>
          <p:spPr>
            <a:xfrm rot="0">
              <a:off x="0" y="493466"/>
              <a:ext cx="4917473" cy="1144552"/>
            </a:xfrm>
            <a:prstGeom prst="rect">
              <a:avLst/>
            </a:prstGeom>
          </p:spPr>
          <p:txBody>
            <a:bodyPr anchor="t" rtlCol="false" tIns="0" lIns="0" bIns="0" rIns="0">
              <a:spAutoFit/>
            </a:bodyPr>
            <a:lstStyle/>
            <a:p>
              <a:pPr algn="just">
                <a:lnSpc>
                  <a:spcPts val="1773"/>
                </a:lnSpc>
              </a:pPr>
              <a:r>
                <a:rPr lang="en-US" sz="1266" b="true">
                  <a:solidFill>
                    <a:srgbClr val="2B2C30"/>
                  </a:solidFill>
                  <a:latin typeface="Playfair Display 1 Bold"/>
                  <a:ea typeface="Playfair Display 1 Bold"/>
                  <a:cs typeface="Playfair Display 1 Bold"/>
                  <a:sym typeface="Playfair Display 1 Bold"/>
                </a:rPr>
                <a:t> </a:t>
              </a:r>
              <a:r>
                <a:rPr lang="en-US" sz="1266">
                  <a:solidFill>
                    <a:srgbClr val="2B2C30"/>
                  </a:solidFill>
                  <a:latin typeface="Playfair Display 1"/>
                  <a:ea typeface="Playfair Display 1"/>
                  <a:cs typeface="Playfair Display 1"/>
                  <a:sym typeface="Playfair Display 1"/>
                </a:rPr>
                <a:t>- Encourage existing users to refer MediFit to their friends and family by offering incentives such as discounts on premium features.</a:t>
              </a:r>
            </a:p>
            <a:p>
              <a:pPr algn="l">
                <a:lnSpc>
                  <a:spcPts val="1773"/>
                </a:lnSpc>
              </a:pPr>
            </a:p>
          </p:txBody>
        </p:sp>
      </p:grpSp>
      <p:sp>
        <p:nvSpPr>
          <p:cNvPr name="TextBox 13" id="13"/>
          <p:cNvSpPr txBox="true"/>
          <p:nvPr/>
        </p:nvSpPr>
        <p:spPr>
          <a:xfrm rot="0">
            <a:off x="667796"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2 Bold"/>
                <a:ea typeface="Playfair Display 2 Bold"/>
                <a:cs typeface="Playfair Display 2 Bold"/>
                <a:sym typeface="Playfair Display 2 Bold"/>
              </a:rPr>
              <a:t>OVERVIEW OF SALES STRATERGY </a:t>
            </a:r>
          </a:p>
        </p:txBody>
      </p:sp>
      <p:grpSp>
        <p:nvGrpSpPr>
          <p:cNvPr name="Group 14" id="14"/>
          <p:cNvGrpSpPr/>
          <p:nvPr/>
        </p:nvGrpSpPr>
        <p:grpSpPr>
          <a:xfrm rot="0">
            <a:off x="4553576" y="5324014"/>
            <a:ext cx="3430930" cy="1447588"/>
            <a:chOff x="0" y="0"/>
            <a:chExt cx="4574573" cy="1930118"/>
          </a:xfrm>
        </p:grpSpPr>
        <p:sp>
          <p:nvSpPr>
            <p:cNvPr name="TextBox 15" id="15"/>
            <p:cNvSpPr txBox="true"/>
            <p:nvPr/>
          </p:nvSpPr>
          <p:spPr>
            <a:xfrm rot="0">
              <a:off x="0" y="-38100"/>
              <a:ext cx="4574573"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 </a:t>
              </a:r>
              <a:r>
                <a:rPr lang="en-US" sz="1866" b="true">
                  <a:solidFill>
                    <a:srgbClr val="2B2C30"/>
                  </a:solidFill>
                  <a:latin typeface="Playfair Display 1 Bold"/>
                  <a:ea typeface="Playfair Display 1 Bold"/>
                  <a:cs typeface="Playfair Display 1 Bold"/>
                  <a:sym typeface="Playfair Display 1 Bold"/>
                </a:rPr>
                <a:t>4. User Support</a:t>
              </a:r>
            </a:p>
          </p:txBody>
        </p:sp>
        <p:sp>
          <p:nvSpPr>
            <p:cNvPr name="TextBox 16" id="16"/>
            <p:cNvSpPr txBox="true"/>
            <p:nvPr/>
          </p:nvSpPr>
          <p:spPr>
            <a:xfrm rot="0">
              <a:off x="0" y="493466"/>
              <a:ext cx="4574573" cy="14366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Provide 24/7 customer support to assist users with any issues or questions they may have.</a:t>
              </a:r>
            </a:p>
            <a:p>
              <a:pPr algn="just">
                <a:lnSpc>
                  <a:spcPts val="1773"/>
                </a:lnSpc>
              </a:pPr>
              <a:r>
                <a:rPr lang="en-US" sz="1266">
                  <a:solidFill>
                    <a:srgbClr val="2B2C30"/>
                  </a:solidFill>
                  <a:latin typeface="Playfair Display 1"/>
                  <a:ea typeface="Playfair Display 1"/>
                  <a:cs typeface="Playfair Display 1"/>
                  <a:sym typeface="Playfair Display 1"/>
                </a:rPr>
                <a:t> - Regularly update the app with new features and improvements based on user feedback.</a:t>
              </a:r>
            </a:p>
            <a:p>
              <a:pPr algn="l">
                <a:lnSpc>
                  <a:spcPts val="1773"/>
                </a:lnSpc>
              </a:pPr>
            </a:p>
          </p:txBody>
        </p:sp>
      </p:grpSp>
      <p:grpSp>
        <p:nvGrpSpPr>
          <p:cNvPr name="Group 17" id="17"/>
          <p:cNvGrpSpPr/>
          <p:nvPr/>
        </p:nvGrpSpPr>
        <p:grpSpPr>
          <a:xfrm rot="0">
            <a:off x="8165481" y="5324014"/>
            <a:ext cx="3430930" cy="1228513"/>
            <a:chOff x="0" y="0"/>
            <a:chExt cx="4574573" cy="1638018"/>
          </a:xfrm>
        </p:grpSpPr>
        <p:sp>
          <p:nvSpPr>
            <p:cNvPr name="TextBox 18" id="18"/>
            <p:cNvSpPr txBox="true"/>
            <p:nvPr/>
          </p:nvSpPr>
          <p:spPr>
            <a:xfrm rot="0">
              <a:off x="0" y="-38100"/>
              <a:ext cx="4574573"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5. Promotional Offers</a:t>
              </a:r>
            </a:p>
          </p:txBody>
        </p:sp>
        <p:sp>
          <p:nvSpPr>
            <p:cNvPr name="TextBox 19" id="19"/>
            <p:cNvSpPr txBox="true"/>
            <p:nvPr/>
          </p:nvSpPr>
          <p:spPr>
            <a:xfrm rot="0">
              <a:off x="0" y="493466"/>
              <a:ext cx="4574573" cy="11445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Run special promotions during health-related awareness campaigns, such as World Health Day.</a:t>
              </a:r>
            </a:p>
            <a:p>
              <a:pPr algn="l">
                <a:lnSpc>
                  <a:spcPts val="1773"/>
                </a:lnSpc>
              </a:pP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grpSp>
        <p:nvGrpSpPr>
          <p:cNvPr name="Group 3" id="3"/>
          <p:cNvGrpSpPr/>
          <p:nvPr/>
        </p:nvGrpSpPr>
        <p:grpSpPr>
          <a:xfrm rot="0">
            <a:off x="667796" y="1384206"/>
            <a:ext cx="5428204" cy="1885738"/>
            <a:chOff x="0" y="0"/>
            <a:chExt cx="7237605" cy="2514318"/>
          </a:xfrm>
        </p:grpSpPr>
        <p:sp>
          <p:nvSpPr>
            <p:cNvPr name="TextBox 4" id="4"/>
            <p:cNvSpPr txBox="true"/>
            <p:nvPr/>
          </p:nvSpPr>
          <p:spPr>
            <a:xfrm rot="0">
              <a:off x="0" y="-38100"/>
              <a:ext cx="7237605"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1. Accessibility</a:t>
              </a:r>
            </a:p>
          </p:txBody>
        </p:sp>
        <p:sp>
          <p:nvSpPr>
            <p:cNvPr name="TextBox 5" id="5"/>
            <p:cNvSpPr txBox="true"/>
            <p:nvPr/>
          </p:nvSpPr>
          <p:spPr>
            <a:xfrm rot="0">
              <a:off x="0" y="493466"/>
              <a:ext cx="7237605" cy="20208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 Targeting Underserved Communities: MediFit focuses on making healthcare accessible to low-income individuals and rural populations who often lack access to quality healthcare services.</a:t>
              </a:r>
            </a:p>
            <a:p>
              <a:pPr algn="just">
                <a:lnSpc>
                  <a:spcPts val="1773"/>
                </a:lnSpc>
              </a:pPr>
              <a:r>
                <a:rPr lang="en-US" sz="1266">
                  <a:solidFill>
                    <a:srgbClr val="2B2C30"/>
                  </a:solidFill>
                  <a:latin typeface="Playfair Display 1"/>
                  <a:ea typeface="Playfair Display 1"/>
                  <a:cs typeface="Playfair Display 1"/>
                  <a:sym typeface="Playfair Display 1"/>
                </a:rPr>
                <a:t> - Partnerships with NGOs and Hospitals: Collaborations with NGOs and hospitals help bridge the healthcare gap and provide affordable healthcare options.</a:t>
              </a:r>
            </a:p>
            <a:p>
              <a:pPr algn="l">
                <a:lnSpc>
                  <a:spcPts val="1773"/>
                </a:lnSpc>
              </a:pPr>
            </a:p>
          </p:txBody>
        </p:sp>
      </p:grpSp>
      <p:grpSp>
        <p:nvGrpSpPr>
          <p:cNvPr name="Group 6" id="6"/>
          <p:cNvGrpSpPr/>
          <p:nvPr/>
        </p:nvGrpSpPr>
        <p:grpSpPr>
          <a:xfrm rot="0">
            <a:off x="667796" y="3298519"/>
            <a:ext cx="5428204" cy="1885738"/>
            <a:chOff x="0" y="0"/>
            <a:chExt cx="7237605" cy="2514318"/>
          </a:xfrm>
        </p:grpSpPr>
        <p:sp>
          <p:nvSpPr>
            <p:cNvPr name="TextBox 7" id="7"/>
            <p:cNvSpPr txBox="true"/>
            <p:nvPr/>
          </p:nvSpPr>
          <p:spPr>
            <a:xfrm rot="0">
              <a:off x="0" y="-38100"/>
              <a:ext cx="7237605"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2. Comprehensive Health Management</a:t>
              </a:r>
            </a:p>
          </p:txBody>
        </p:sp>
        <p:sp>
          <p:nvSpPr>
            <p:cNvPr name="TextBox 8" id="8"/>
            <p:cNvSpPr txBox="true"/>
            <p:nvPr/>
          </p:nvSpPr>
          <p:spPr>
            <a:xfrm rot="0">
              <a:off x="0" y="493466"/>
              <a:ext cx="7237605" cy="20208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User-Friendly Platform: MediFit offers a user-friendly interface that allows users to store health data, receive lifestyle assessments, and access healthcare recommendations.</a:t>
              </a:r>
            </a:p>
            <a:p>
              <a:pPr algn="just">
                <a:lnSpc>
                  <a:spcPts val="1773"/>
                </a:lnSpc>
              </a:pPr>
              <a:r>
                <a:rPr lang="en-US" sz="1266">
                  <a:solidFill>
                    <a:srgbClr val="2B2C30"/>
                  </a:solidFill>
                  <a:latin typeface="Playfair Display 1"/>
                  <a:ea typeface="Playfair Display 1"/>
                  <a:cs typeface="Playfair Display 1"/>
                  <a:sym typeface="Playfair Display 1"/>
                </a:rPr>
                <a:t> - Personalized Health Plans: The app provides personalized health plans based on individual health data, helping users manage their health more effectively.</a:t>
              </a:r>
            </a:p>
            <a:p>
              <a:pPr algn="l">
                <a:lnSpc>
                  <a:spcPts val="1773"/>
                </a:lnSpc>
              </a:pPr>
            </a:p>
          </p:txBody>
        </p:sp>
      </p:grpSp>
      <p:grpSp>
        <p:nvGrpSpPr>
          <p:cNvPr name="Group 9" id="9"/>
          <p:cNvGrpSpPr/>
          <p:nvPr/>
        </p:nvGrpSpPr>
        <p:grpSpPr>
          <a:xfrm rot="0">
            <a:off x="6613644" y="1384206"/>
            <a:ext cx="4892556" cy="1666663"/>
            <a:chOff x="0" y="0"/>
            <a:chExt cx="6523409" cy="2222218"/>
          </a:xfrm>
        </p:grpSpPr>
        <p:sp>
          <p:nvSpPr>
            <p:cNvPr name="TextBox 10" id="10"/>
            <p:cNvSpPr txBox="true"/>
            <p:nvPr/>
          </p:nvSpPr>
          <p:spPr>
            <a:xfrm rot="0">
              <a:off x="0" y="-38100"/>
              <a:ext cx="6523409" cy="406682"/>
            </a:xfrm>
            <a:prstGeom prst="rect">
              <a:avLst/>
            </a:prstGeom>
          </p:spPr>
          <p:txBody>
            <a:bodyPr anchor="t" rtlCol="false" tIns="0" lIns="0" bIns="0" rIns="0">
              <a:spAutoFit/>
            </a:bodyPr>
            <a:lstStyle/>
            <a:p>
              <a:pPr algn="l">
                <a:lnSpc>
                  <a:spcPts val="2613"/>
                </a:lnSpc>
              </a:pPr>
              <a:r>
                <a:rPr lang="en-US" sz="1866" b="true">
                  <a:solidFill>
                    <a:srgbClr val="2B2C30"/>
                  </a:solidFill>
                  <a:latin typeface="Playfair Display 1 Bold"/>
                  <a:ea typeface="Playfair Display 1 Bold"/>
                  <a:cs typeface="Playfair Display 1 Bold"/>
                  <a:sym typeface="Playfair Display 1 Bold"/>
                </a:rPr>
                <a:t>3. Affordability</a:t>
              </a:r>
            </a:p>
          </p:txBody>
        </p:sp>
        <p:sp>
          <p:nvSpPr>
            <p:cNvPr name="TextBox 11" id="11"/>
            <p:cNvSpPr txBox="true"/>
            <p:nvPr/>
          </p:nvSpPr>
          <p:spPr>
            <a:xfrm rot="0">
              <a:off x="0" y="493466"/>
              <a:ext cx="6523409" cy="1728752"/>
            </a:xfrm>
            <a:prstGeom prst="rect">
              <a:avLst/>
            </a:prstGeom>
          </p:spPr>
          <p:txBody>
            <a:bodyPr anchor="t" rtlCol="false" tIns="0" lIns="0" bIns="0" rIns="0">
              <a:spAutoFit/>
            </a:bodyPr>
            <a:lstStyle/>
            <a:p>
              <a:pPr algn="just">
                <a:lnSpc>
                  <a:spcPts val="1773"/>
                </a:lnSpc>
              </a:pPr>
              <a:r>
                <a:rPr lang="en-US" sz="1266">
                  <a:solidFill>
                    <a:srgbClr val="2B2C30"/>
                  </a:solidFill>
                  <a:latin typeface="Playfair Display 1"/>
                  <a:ea typeface="Playfair Display 1"/>
                  <a:cs typeface="Playfair Display 1"/>
                  <a:sym typeface="Playfair Display 1"/>
                </a:rPr>
                <a:t> - Freemium Model: MediFit offers basic features for free, making it accessible to a wider audience.</a:t>
              </a:r>
            </a:p>
            <a:p>
              <a:pPr algn="just">
                <a:lnSpc>
                  <a:spcPts val="1773"/>
                </a:lnSpc>
              </a:pPr>
              <a:r>
                <a:rPr lang="en-US" sz="1266">
                  <a:solidFill>
                    <a:srgbClr val="2B2C30"/>
                  </a:solidFill>
                  <a:latin typeface="Playfair Display 1"/>
                  <a:ea typeface="Playfair Display 1"/>
                  <a:cs typeface="Playfair Display 1"/>
                  <a:sym typeface="Playfair Display 1"/>
                </a:rPr>
                <a:t> - Subscription-Based Premium Features: Additional features are available through a subscription, providing users with more advanced health management tools.</a:t>
              </a:r>
            </a:p>
            <a:p>
              <a:pPr algn="l">
                <a:lnSpc>
                  <a:spcPts val="1773"/>
                </a:lnSpc>
              </a:pPr>
            </a:p>
          </p:txBody>
        </p:sp>
      </p:grpSp>
      <p:sp>
        <p:nvSpPr>
          <p:cNvPr name="TextBox 12" id="12"/>
          <p:cNvSpPr txBox="true"/>
          <p:nvPr/>
        </p:nvSpPr>
        <p:spPr>
          <a:xfrm rot="0">
            <a:off x="667796"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1 Bold"/>
                <a:ea typeface="Playfair Display 1 Bold"/>
                <a:cs typeface="Playfair Display 1 Bold"/>
                <a:sym typeface="Playfair Display 1 Bold"/>
              </a:rPr>
              <a:t>COMPETITIVE ADVANTAGE</a:t>
            </a:r>
          </a:p>
        </p:txBody>
      </p:sp>
      <p:grpSp>
        <p:nvGrpSpPr>
          <p:cNvPr name="Group 13" id="13"/>
          <p:cNvGrpSpPr/>
          <p:nvPr/>
        </p:nvGrpSpPr>
        <p:grpSpPr>
          <a:xfrm rot="0">
            <a:off x="6613644" y="3057219"/>
            <a:ext cx="4874553" cy="2027792"/>
            <a:chOff x="0" y="0"/>
            <a:chExt cx="6499403" cy="2703722"/>
          </a:xfrm>
        </p:grpSpPr>
        <p:sp>
          <p:nvSpPr>
            <p:cNvPr name="TextBox 14" id="14"/>
            <p:cNvSpPr txBox="true"/>
            <p:nvPr/>
          </p:nvSpPr>
          <p:spPr>
            <a:xfrm rot="0">
              <a:off x="0" y="-38100"/>
              <a:ext cx="6499403" cy="967314"/>
            </a:xfrm>
            <a:prstGeom prst="rect">
              <a:avLst/>
            </a:prstGeom>
          </p:spPr>
          <p:txBody>
            <a:bodyPr anchor="t" rtlCol="false" tIns="0" lIns="0" bIns="0" rIns="0">
              <a:spAutoFit/>
            </a:bodyPr>
            <a:lstStyle/>
            <a:p>
              <a:pPr algn="l">
                <a:lnSpc>
                  <a:spcPts val="2537"/>
                </a:lnSpc>
              </a:pPr>
            </a:p>
            <a:p>
              <a:pPr algn="l">
                <a:lnSpc>
                  <a:spcPts val="906"/>
                </a:lnSpc>
              </a:pPr>
              <a:r>
                <a:rPr lang="en-US" sz="1812" b="true">
                  <a:solidFill>
                    <a:srgbClr val="2B2C30"/>
                  </a:solidFill>
                  <a:latin typeface="Playfair Display 1 Bold"/>
                  <a:ea typeface="Playfair Display 1 Bold"/>
                  <a:cs typeface="Playfair Display 1 Bold"/>
                  <a:sym typeface="Playfair Display 1 Bold"/>
                </a:rPr>
                <a:t> 4. Community Engagement</a:t>
              </a:r>
            </a:p>
            <a:p>
              <a:pPr algn="l">
                <a:lnSpc>
                  <a:spcPts val="2537"/>
                </a:lnSpc>
              </a:pPr>
            </a:p>
          </p:txBody>
        </p:sp>
        <p:sp>
          <p:nvSpPr>
            <p:cNvPr name="TextBox 15" id="15"/>
            <p:cNvSpPr txBox="true"/>
            <p:nvPr/>
          </p:nvSpPr>
          <p:spPr>
            <a:xfrm rot="0">
              <a:off x="0" y="1049927"/>
              <a:ext cx="6499403" cy="1653795"/>
            </a:xfrm>
            <a:prstGeom prst="rect">
              <a:avLst/>
            </a:prstGeom>
          </p:spPr>
          <p:txBody>
            <a:bodyPr anchor="t" rtlCol="false" tIns="0" lIns="0" bIns="0" rIns="0">
              <a:spAutoFit/>
            </a:bodyPr>
            <a:lstStyle/>
            <a:p>
              <a:pPr algn="l">
                <a:lnSpc>
                  <a:spcPts val="1721"/>
                </a:lnSpc>
              </a:pPr>
              <a:r>
                <a:rPr lang="en-US" sz="1229">
                  <a:solidFill>
                    <a:srgbClr val="2B2C30"/>
                  </a:solidFill>
                  <a:latin typeface="Playfair Display 1"/>
                  <a:ea typeface="Playfair Display 1"/>
                  <a:cs typeface="Playfair Display 1"/>
                  <a:sym typeface="Playfair Display 1"/>
                </a:rPr>
                <a:t>- Health Camps and Workshops: MediFit organizes health camps and workshops in rural and underserved areas to demonstrate the app’s benefits and educate the community about health management.</a:t>
              </a:r>
            </a:p>
            <a:p>
              <a:pPr algn="l">
                <a:lnSpc>
                  <a:spcPts val="1721"/>
                </a:lnSpc>
              </a:pPr>
              <a:r>
                <a:rPr lang="en-US" sz="1229">
                  <a:solidFill>
                    <a:srgbClr val="2B2C30"/>
                  </a:solidFill>
                  <a:latin typeface="Playfair Display 1"/>
                  <a:ea typeface="Playfair Display 1"/>
                  <a:cs typeface="Playfair Display 1"/>
                  <a:sym typeface="Playfair Display 1"/>
                </a:rPr>
                <a:t> - Local Influencer Partnerships: Collaborating with local health advocates helps build trust and credibility within communities.</a:t>
              </a:r>
            </a:p>
            <a:p>
              <a:pPr algn="l">
                <a:lnSpc>
                  <a:spcPts val="1721"/>
                </a:lnSpc>
              </a:pP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685797" y="1173841"/>
            <a:ext cx="10820396" cy="25672"/>
          </a:xfrm>
          <a:prstGeom prst="line">
            <a:avLst/>
          </a:prstGeom>
          <a:ln cap="flat" w="9525">
            <a:solidFill>
              <a:srgbClr val="2B2C30"/>
            </a:solidFill>
            <a:prstDash val="solid"/>
            <a:headEnd type="none" len="sm" w="sm"/>
            <a:tailEnd type="none" len="sm" w="sm"/>
          </a:ln>
        </p:spPr>
      </p:sp>
      <p:grpSp>
        <p:nvGrpSpPr>
          <p:cNvPr name="Group 3" id="3"/>
          <p:cNvGrpSpPr/>
          <p:nvPr/>
        </p:nvGrpSpPr>
        <p:grpSpPr>
          <a:xfrm rot="0">
            <a:off x="667796" y="3429000"/>
            <a:ext cx="4034338" cy="580814"/>
            <a:chOff x="0" y="0"/>
            <a:chExt cx="5379118" cy="774418"/>
          </a:xfrm>
        </p:grpSpPr>
        <p:sp>
          <p:nvSpPr>
            <p:cNvPr name="TextBox 4" id="4"/>
            <p:cNvSpPr txBox="true"/>
            <p:nvPr/>
          </p:nvSpPr>
          <p:spPr>
            <a:xfrm rot="0">
              <a:off x="0" y="-47625"/>
              <a:ext cx="5379118" cy="424674"/>
            </a:xfrm>
            <a:prstGeom prst="rect">
              <a:avLst/>
            </a:prstGeom>
          </p:spPr>
          <p:txBody>
            <a:bodyPr anchor="t" rtlCol="false" tIns="0" lIns="0" bIns="0" rIns="0">
              <a:spAutoFit/>
            </a:bodyPr>
            <a:lstStyle/>
            <a:p>
              <a:pPr algn="l">
                <a:lnSpc>
                  <a:spcPts val="2613"/>
                </a:lnSpc>
              </a:pPr>
            </a:p>
          </p:txBody>
        </p:sp>
        <p:sp>
          <p:nvSpPr>
            <p:cNvPr name="TextBox 5" id="5"/>
            <p:cNvSpPr txBox="true"/>
            <p:nvPr/>
          </p:nvSpPr>
          <p:spPr>
            <a:xfrm rot="0">
              <a:off x="0" y="492407"/>
              <a:ext cx="5379118" cy="282011"/>
            </a:xfrm>
            <a:prstGeom prst="rect">
              <a:avLst/>
            </a:prstGeom>
          </p:spPr>
          <p:txBody>
            <a:bodyPr anchor="t" rtlCol="false" tIns="0" lIns="0" bIns="0" rIns="0">
              <a:spAutoFit/>
            </a:bodyPr>
            <a:lstStyle/>
            <a:p>
              <a:pPr algn="l">
                <a:lnSpc>
                  <a:spcPts val="1773"/>
                </a:lnSpc>
              </a:pPr>
            </a:p>
          </p:txBody>
        </p:sp>
      </p:grpSp>
      <p:sp>
        <p:nvSpPr>
          <p:cNvPr name="TextBox 6" id="6"/>
          <p:cNvSpPr txBox="true"/>
          <p:nvPr/>
        </p:nvSpPr>
        <p:spPr>
          <a:xfrm rot="0">
            <a:off x="667796" y="638175"/>
            <a:ext cx="10820400" cy="422876"/>
          </a:xfrm>
          <a:prstGeom prst="rect">
            <a:avLst/>
          </a:prstGeom>
        </p:spPr>
        <p:txBody>
          <a:bodyPr anchor="t" rtlCol="false" tIns="0" lIns="0" bIns="0" rIns="0">
            <a:spAutoFit/>
          </a:bodyPr>
          <a:lstStyle/>
          <a:p>
            <a:pPr algn="l">
              <a:lnSpc>
                <a:spcPts val="3466"/>
              </a:lnSpc>
              <a:spcBef>
                <a:spcPct val="0"/>
              </a:spcBef>
            </a:pPr>
            <a:r>
              <a:rPr lang="en-US" b="true" sz="2476" spc="562">
                <a:solidFill>
                  <a:srgbClr val="2B2C30"/>
                </a:solidFill>
                <a:latin typeface="Playfair Display 2 Bold"/>
                <a:ea typeface="Playfair Display 2 Bold"/>
                <a:cs typeface="Playfair Display 2 Bold"/>
                <a:sym typeface="Playfair Display 2 Bold"/>
              </a:rPr>
              <a:t>COMPETITIVE ADVANTAGE</a:t>
            </a:r>
          </a:p>
        </p:txBody>
      </p:sp>
      <p:grpSp>
        <p:nvGrpSpPr>
          <p:cNvPr name="Group 7" id="7"/>
          <p:cNvGrpSpPr/>
          <p:nvPr/>
        </p:nvGrpSpPr>
        <p:grpSpPr>
          <a:xfrm rot="0">
            <a:off x="685800" y="1061051"/>
            <a:ext cx="5410200" cy="2748455"/>
            <a:chOff x="0" y="0"/>
            <a:chExt cx="7213600" cy="3664606"/>
          </a:xfrm>
        </p:grpSpPr>
        <p:sp>
          <p:nvSpPr>
            <p:cNvPr name="TextBox 8" id="8"/>
            <p:cNvSpPr txBox="true"/>
            <p:nvPr/>
          </p:nvSpPr>
          <p:spPr>
            <a:xfrm rot="0">
              <a:off x="0" y="-38100"/>
              <a:ext cx="7213600" cy="1270169"/>
            </a:xfrm>
            <a:prstGeom prst="rect">
              <a:avLst/>
            </a:prstGeom>
          </p:spPr>
          <p:txBody>
            <a:bodyPr anchor="t" rtlCol="false" tIns="0" lIns="0" bIns="0" rIns="0">
              <a:spAutoFit/>
            </a:bodyPr>
            <a:lstStyle/>
            <a:p>
              <a:pPr algn="l">
                <a:lnSpc>
                  <a:spcPts val="2617"/>
                </a:lnSpc>
              </a:pPr>
            </a:p>
            <a:p>
              <a:pPr algn="l">
                <a:lnSpc>
                  <a:spcPts val="2617"/>
                </a:lnSpc>
              </a:pPr>
              <a:r>
                <a:rPr lang="en-US" sz="1869" b="true">
                  <a:solidFill>
                    <a:srgbClr val="2B2C30"/>
                  </a:solidFill>
                  <a:latin typeface="Playfair Display 2 Bold"/>
                  <a:ea typeface="Playfair Display 2 Bold"/>
                  <a:cs typeface="Playfair Display 2 Bold"/>
                  <a:sym typeface="Playfair Display 2 Bold"/>
                </a:rPr>
                <a:t> 5. Technology Integration</a:t>
              </a:r>
            </a:p>
            <a:p>
              <a:pPr algn="l">
                <a:lnSpc>
                  <a:spcPts val="2617"/>
                </a:lnSpc>
              </a:pPr>
            </a:p>
          </p:txBody>
        </p:sp>
        <p:sp>
          <p:nvSpPr>
            <p:cNvPr name="TextBox 9" id="9"/>
            <p:cNvSpPr txBox="true"/>
            <p:nvPr/>
          </p:nvSpPr>
          <p:spPr>
            <a:xfrm rot="0">
              <a:off x="0" y="1351767"/>
              <a:ext cx="7213600" cy="2312839"/>
            </a:xfrm>
            <a:prstGeom prst="rect">
              <a:avLst/>
            </a:prstGeom>
          </p:spPr>
          <p:txBody>
            <a:bodyPr anchor="t" rtlCol="false" tIns="0" lIns="0" bIns="0" rIns="0">
              <a:spAutoFit/>
            </a:bodyPr>
            <a:lstStyle/>
            <a:p>
              <a:pPr algn="just">
                <a:lnSpc>
                  <a:spcPts val="1777"/>
                </a:lnSpc>
              </a:pPr>
            </a:p>
            <a:p>
              <a:pPr algn="just">
                <a:lnSpc>
                  <a:spcPts val="1777"/>
                </a:lnSpc>
              </a:pPr>
              <a:r>
                <a:rPr lang="en-US" sz="1269">
                  <a:solidFill>
                    <a:srgbClr val="2B2C30"/>
                  </a:solidFill>
                  <a:latin typeface="Playfair Display 1"/>
                  <a:ea typeface="Playfair Display 1"/>
                  <a:cs typeface="Playfair Display 1"/>
                  <a:sym typeface="Playfair Display 1"/>
                </a:rPr>
                <a:t> - Real-Time Communication: MediFit integrates various stakeholders within the healthcare sector through digital solutions, enabling real-time communication between users, NGOs, hospitals, and insurance companies.</a:t>
              </a:r>
            </a:p>
            <a:p>
              <a:pPr algn="just">
                <a:lnSpc>
                  <a:spcPts val="1777"/>
                </a:lnSpc>
              </a:pPr>
              <a:r>
                <a:rPr lang="en-US" sz="1269">
                  <a:solidFill>
                    <a:srgbClr val="2B2C30"/>
                  </a:solidFill>
                  <a:latin typeface="Playfair Display 1"/>
                  <a:ea typeface="Playfair Display 1"/>
                  <a:cs typeface="Playfair Display 1"/>
                  <a:sym typeface="Playfair Display 1"/>
                </a:rPr>
                <a:t> - Cloud-Based Platform: The app uses cloud-based platforms to facilitate health assistance services and ensure data security.</a:t>
              </a:r>
            </a:p>
            <a:p>
              <a:pPr algn="just">
                <a:lnSpc>
                  <a:spcPts val="1777"/>
                </a:lnSpc>
              </a:pPr>
            </a:p>
          </p:txBody>
        </p:sp>
      </p:grpSp>
      <p:grpSp>
        <p:nvGrpSpPr>
          <p:cNvPr name="Group 10" id="10"/>
          <p:cNvGrpSpPr/>
          <p:nvPr/>
        </p:nvGrpSpPr>
        <p:grpSpPr>
          <a:xfrm rot="0">
            <a:off x="5907465" y="3138593"/>
            <a:ext cx="4034338" cy="580814"/>
            <a:chOff x="0" y="0"/>
            <a:chExt cx="5379118" cy="774418"/>
          </a:xfrm>
        </p:grpSpPr>
        <p:sp>
          <p:nvSpPr>
            <p:cNvPr name="TextBox 11" id="11"/>
            <p:cNvSpPr txBox="true"/>
            <p:nvPr/>
          </p:nvSpPr>
          <p:spPr>
            <a:xfrm rot="0">
              <a:off x="0" y="-47625"/>
              <a:ext cx="5379118" cy="424674"/>
            </a:xfrm>
            <a:prstGeom prst="rect">
              <a:avLst/>
            </a:prstGeom>
          </p:spPr>
          <p:txBody>
            <a:bodyPr anchor="t" rtlCol="false" tIns="0" lIns="0" bIns="0" rIns="0">
              <a:spAutoFit/>
            </a:bodyPr>
            <a:lstStyle/>
            <a:p>
              <a:pPr algn="l">
                <a:lnSpc>
                  <a:spcPts val="2613"/>
                </a:lnSpc>
              </a:pPr>
            </a:p>
          </p:txBody>
        </p:sp>
        <p:sp>
          <p:nvSpPr>
            <p:cNvPr name="TextBox 12" id="12"/>
            <p:cNvSpPr txBox="true"/>
            <p:nvPr/>
          </p:nvSpPr>
          <p:spPr>
            <a:xfrm rot="0">
              <a:off x="0" y="492407"/>
              <a:ext cx="5379118" cy="282011"/>
            </a:xfrm>
            <a:prstGeom prst="rect">
              <a:avLst/>
            </a:prstGeom>
          </p:spPr>
          <p:txBody>
            <a:bodyPr anchor="t" rtlCol="false" tIns="0" lIns="0" bIns="0" rIns="0">
              <a:spAutoFit/>
            </a:bodyPr>
            <a:lstStyle/>
            <a:p>
              <a:pPr algn="l">
                <a:lnSpc>
                  <a:spcPts val="1773"/>
                </a:lnSpc>
              </a:pPr>
            </a:p>
          </p:txBody>
        </p:sp>
      </p:grpSp>
      <p:grpSp>
        <p:nvGrpSpPr>
          <p:cNvPr name="Group 13" id="13"/>
          <p:cNvGrpSpPr/>
          <p:nvPr/>
        </p:nvGrpSpPr>
        <p:grpSpPr>
          <a:xfrm rot="0">
            <a:off x="685800" y="4009814"/>
            <a:ext cx="5429743" cy="3196130"/>
            <a:chOff x="0" y="0"/>
            <a:chExt cx="7239657" cy="4261506"/>
          </a:xfrm>
        </p:grpSpPr>
        <p:sp>
          <p:nvSpPr>
            <p:cNvPr name="TextBox 14" id="14"/>
            <p:cNvSpPr txBox="true"/>
            <p:nvPr/>
          </p:nvSpPr>
          <p:spPr>
            <a:xfrm rot="0">
              <a:off x="0" y="-38100"/>
              <a:ext cx="7239657" cy="406569"/>
            </a:xfrm>
            <a:prstGeom prst="rect">
              <a:avLst/>
            </a:prstGeom>
          </p:spPr>
          <p:txBody>
            <a:bodyPr anchor="t" rtlCol="false" tIns="0" lIns="0" bIns="0" rIns="0">
              <a:spAutoFit/>
            </a:bodyPr>
            <a:lstStyle/>
            <a:p>
              <a:pPr algn="l">
                <a:lnSpc>
                  <a:spcPts val="2617"/>
                </a:lnSpc>
              </a:pPr>
              <a:r>
                <a:rPr lang="en-US" sz="1869" b="true">
                  <a:solidFill>
                    <a:srgbClr val="2B2C30"/>
                  </a:solidFill>
                  <a:latin typeface="Playfair Display 1 Bold"/>
                  <a:ea typeface="Playfair Display 1 Bold"/>
                  <a:cs typeface="Playfair Display 1 Bold"/>
                  <a:sym typeface="Playfair Display 1 Bold"/>
                </a:rPr>
                <a:t>6. Focus on Chronic Health Conditions</a:t>
              </a:r>
            </a:p>
          </p:txBody>
        </p:sp>
        <p:sp>
          <p:nvSpPr>
            <p:cNvPr name="TextBox 15" id="15"/>
            <p:cNvSpPr txBox="true"/>
            <p:nvPr/>
          </p:nvSpPr>
          <p:spPr>
            <a:xfrm rot="0">
              <a:off x="0" y="478642"/>
              <a:ext cx="7239657" cy="3782864"/>
            </a:xfrm>
            <a:prstGeom prst="rect">
              <a:avLst/>
            </a:prstGeom>
          </p:spPr>
          <p:txBody>
            <a:bodyPr anchor="t" rtlCol="false" tIns="0" lIns="0" bIns="0" rIns="0">
              <a:spAutoFit/>
            </a:bodyPr>
            <a:lstStyle/>
            <a:p>
              <a:pPr algn="l">
                <a:lnSpc>
                  <a:spcPts val="1777"/>
                </a:lnSpc>
              </a:pPr>
            </a:p>
            <a:p>
              <a:pPr algn="just">
                <a:lnSpc>
                  <a:spcPts val="1777"/>
                </a:lnSpc>
              </a:pPr>
            </a:p>
            <a:p>
              <a:pPr algn="just">
                <a:lnSpc>
                  <a:spcPts val="1777"/>
                </a:lnSpc>
              </a:pPr>
              <a:r>
                <a:rPr lang="en-US" sz="1269">
                  <a:solidFill>
                    <a:srgbClr val="2B2C30"/>
                  </a:solidFill>
                  <a:latin typeface="Playfair Display 1"/>
                  <a:ea typeface="Playfair Display 1"/>
                  <a:cs typeface="Playfair Display 1"/>
                  <a:sym typeface="Playfair Display 1"/>
                </a:rPr>
                <a:t>- Tailored Fitness Monitoring: MediFit specializes in providing tailored fitness monitoring solutions for individuals with chronic health conditions, helping them manage their health and prevent complications.</a:t>
              </a:r>
            </a:p>
            <a:p>
              <a:pPr algn="just">
                <a:lnSpc>
                  <a:spcPts val="1777"/>
                </a:lnSpc>
              </a:pPr>
            </a:p>
            <a:p>
              <a:pPr algn="just">
                <a:lnSpc>
                  <a:spcPts val="1777"/>
                </a:lnSpc>
              </a:pPr>
              <a:r>
                <a:rPr lang="en-US" sz="1269">
                  <a:solidFill>
                    <a:srgbClr val="2B2C30"/>
                  </a:solidFill>
                  <a:latin typeface="Playfair Display 1"/>
                  <a:ea typeface="Playfair Display 1"/>
                  <a:cs typeface="Playfair Display 1"/>
                  <a:sym typeface="Playfair Display 1"/>
                </a:rPr>
                <a:t>By leveraging these competitive advantages, MediFit can effectively differentiate itself in the healthcare mobile applications market and make a significant impact on healthcare accessibility and affordability.</a:t>
              </a:r>
            </a:p>
            <a:p>
              <a:pPr algn="l">
                <a:lnSpc>
                  <a:spcPts val="1777"/>
                </a:lnSpc>
              </a:pPr>
            </a:p>
            <a:p>
              <a:pPr algn="l">
                <a:lnSpc>
                  <a:spcPts val="1777"/>
                </a:lnSpc>
              </a:pPr>
            </a:p>
            <a:p>
              <a:pPr algn="l">
                <a:lnSpc>
                  <a:spcPts val="1777"/>
                </a:lnSpc>
              </a:pPr>
            </a:p>
            <a:p>
              <a:pPr algn="l">
                <a:lnSpc>
                  <a:spcPts val="1777"/>
                </a:lnSpc>
              </a:pPr>
            </a:p>
          </p:txBody>
        </p:sp>
      </p:grpSp>
      <p:grpSp>
        <p:nvGrpSpPr>
          <p:cNvPr name="Group 16" id="16"/>
          <p:cNvGrpSpPr/>
          <p:nvPr/>
        </p:nvGrpSpPr>
        <p:grpSpPr>
          <a:xfrm rot="0">
            <a:off x="6406085" y="2248886"/>
            <a:ext cx="5358051" cy="2757545"/>
            <a:chOff x="0" y="0"/>
            <a:chExt cx="7144068" cy="3676727"/>
          </a:xfrm>
        </p:grpSpPr>
        <p:sp>
          <p:nvSpPr>
            <p:cNvPr name="TextBox 17" id="17"/>
            <p:cNvSpPr txBox="true"/>
            <p:nvPr/>
          </p:nvSpPr>
          <p:spPr>
            <a:xfrm rot="0">
              <a:off x="0" y="-38100"/>
              <a:ext cx="7144068" cy="406569"/>
            </a:xfrm>
            <a:prstGeom prst="rect">
              <a:avLst/>
            </a:prstGeom>
          </p:spPr>
          <p:txBody>
            <a:bodyPr anchor="t" rtlCol="false" tIns="0" lIns="0" bIns="0" rIns="0">
              <a:spAutoFit/>
            </a:bodyPr>
            <a:lstStyle/>
            <a:p>
              <a:pPr algn="l">
                <a:lnSpc>
                  <a:spcPts val="2617"/>
                </a:lnSpc>
              </a:pPr>
              <a:r>
                <a:rPr lang="en-US" sz="1869" b="true">
                  <a:solidFill>
                    <a:srgbClr val="2B2C30"/>
                  </a:solidFill>
                  <a:latin typeface="Playfair Display 1 Bold"/>
                  <a:ea typeface="Playfair Display 1 Bold"/>
                  <a:cs typeface="Playfair Display 1 Bold"/>
                  <a:sym typeface="Playfair Display 1 Bold"/>
                </a:rPr>
                <a:t>7. Ease of Implementation and Usage</a:t>
              </a:r>
            </a:p>
          </p:txBody>
        </p:sp>
        <p:sp>
          <p:nvSpPr>
            <p:cNvPr name="TextBox 18" id="18"/>
            <p:cNvSpPr txBox="true"/>
            <p:nvPr/>
          </p:nvSpPr>
          <p:spPr>
            <a:xfrm rot="0">
              <a:off x="0" y="487328"/>
              <a:ext cx="7144068" cy="3189400"/>
            </a:xfrm>
            <a:prstGeom prst="rect">
              <a:avLst/>
            </a:prstGeom>
          </p:spPr>
          <p:txBody>
            <a:bodyPr anchor="t" rtlCol="false" tIns="0" lIns="0" bIns="0" rIns="0">
              <a:spAutoFit/>
            </a:bodyPr>
            <a:lstStyle/>
            <a:p>
              <a:pPr algn="just">
                <a:lnSpc>
                  <a:spcPts val="1767"/>
                </a:lnSpc>
              </a:pPr>
              <a:r>
                <a:rPr lang="en-US" sz="1262" b="true">
                  <a:solidFill>
                    <a:srgbClr val="2B2C30"/>
                  </a:solidFill>
                  <a:latin typeface="Playfair Display 2 Bold"/>
                  <a:ea typeface="Playfair Display 2 Bold"/>
                  <a:cs typeface="Playfair Display 2 Bold"/>
                  <a:sym typeface="Playfair Display 2 Bold"/>
                </a:rPr>
                <a:t>-Implementation</a:t>
              </a:r>
              <a:r>
                <a:rPr lang="en-US" sz="1262">
                  <a:solidFill>
                    <a:srgbClr val="2B2C30"/>
                  </a:solidFill>
                  <a:latin typeface="Playfair Display 2"/>
                  <a:ea typeface="Playfair Display 2"/>
                  <a:cs typeface="Playfair Display 2"/>
                  <a:sym typeface="Playfair Display 2"/>
                </a:rPr>
                <a:t>: MediFit's cloud-based platform ensures easy deployment and robust data security. Partnerships with NGOs and hospitals facilitate seamless integration and broaden the app's reach. </a:t>
              </a:r>
            </a:p>
            <a:p>
              <a:pPr algn="just">
                <a:lnSpc>
                  <a:spcPts val="1767"/>
                </a:lnSpc>
              </a:pPr>
            </a:p>
            <a:p>
              <a:pPr algn="just">
                <a:lnSpc>
                  <a:spcPts val="1767"/>
                </a:lnSpc>
              </a:pPr>
              <a:r>
                <a:rPr lang="en-US" sz="1262">
                  <a:solidFill>
                    <a:srgbClr val="2B2C30"/>
                  </a:solidFill>
                  <a:latin typeface="Playfair Display 2"/>
                  <a:ea typeface="Playfair Display 2"/>
                  <a:cs typeface="Playfair Display 2"/>
                  <a:sym typeface="Playfair Display 2"/>
                </a:rPr>
                <a:t>-</a:t>
              </a:r>
              <a:r>
                <a:rPr lang="en-US" sz="1262" b="true">
                  <a:solidFill>
                    <a:srgbClr val="2B2C30"/>
                  </a:solidFill>
                  <a:latin typeface="Playfair Display 2 Bold"/>
                  <a:ea typeface="Playfair Display 2 Bold"/>
                  <a:cs typeface="Playfair Display 2 Bold"/>
                  <a:sym typeface="Playfair Display 2 Bold"/>
                </a:rPr>
                <a:t>Usage</a:t>
              </a:r>
              <a:r>
                <a:rPr lang="en-US" sz="1262">
                  <a:solidFill>
                    <a:srgbClr val="2B2C30"/>
                  </a:solidFill>
                  <a:latin typeface="Playfair Display 2"/>
                  <a:ea typeface="Playfair Display 2"/>
                  <a:cs typeface="Playfair Display 2"/>
                  <a:sym typeface="Playfair Display 2"/>
                </a:rPr>
                <a:t>: The app's intuitive interface, multilingual support, and real-time communication features make it accessible for users of all technical levels. Users can track health metrics, access telemedicine services, and receive personalized health insights. Integration with wearable devices and emergency response features enhance convenience and safety.</a:t>
              </a:r>
            </a:p>
            <a:p>
              <a:pPr algn="l">
                <a:lnSpc>
                  <a:spcPts val="1767"/>
                </a:lnSpc>
              </a:pPr>
            </a:p>
            <a:p>
              <a:pPr algn="l">
                <a:lnSpc>
                  <a:spcPts val="176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DAGVKj7NLKg</dc:identifier>
  <dcterms:modified xsi:type="dcterms:W3CDTF">2011-08-01T06:04:30Z</dcterms:modified>
  <cp:revision>1</cp:revision>
  <dc:title>25KTJB-PD856061</dc:title>
</cp:coreProperties>
</file>